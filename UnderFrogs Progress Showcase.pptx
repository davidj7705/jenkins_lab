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~15 seconds. "Hi, we're the UnderFrogs. Over the last seven weeks we've built an enterprise trading platform, one sprint at a time. We'll show you what we built, then place a real trade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~10 seconds. Don't read every line. "We'll cover who we are, what we built, then show a trade go through live, how we secured and tested it, and what's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~35 seconds. Introduce each person by name and what they mainly owned: [Marco: ...], [David: ...], [Shane: ...], [Jamie: ...]. Then: "We worked in GitFlow with Jira sprints. Everything went through a reviewed pull request: 136 of them in seven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~75 seconds. Walk top to bottom. "Requests come in to four Spring Boot services. Each one owns its own database: no service reaches into another's tables. auth-service, in NestJS, is the only thing that issues tokens. When an order is placed it goes onto Kafka, and the trade-executor picks it up and executes it asynchronously. Kafka also feeds the analytics side: a Python ETL into a star schema, and a dashboard. All of it starts with one setup script in Docker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~45 seconds. Don't try to read the ERD: it's there to show scale. "We split the original single database so every service owns its own data. Instrument data from yfinance lands in raw tables and is validated into clean ones. Every table that can be updated concurrently has a version column for optimistic locking, and orders have a unique idempotency key, which is what stops a double charge. Cash and position changes are written to ledgers, so every balance can be traced."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~75 seconds. "Data moves through the platform in two lanes. The live lane is Kafka: the trade-executor polls quotes from Alpaca, or the daily close as a fallback, and publishes them on market-data; order events go on orders and trade-events. The dashboard's Live tab consumes those and refreshes every two seconds. The batch lane is Python ETL: at setup it loads instruments and prices, and every five minutes trade-analytics-service picks up new orders since its last watermark and loads them into a star schema. Bad rows go to a dead-letter table rather than breaking the run. Live answers what's happening now; batch answers what the trend is." You'll prove both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~75 seconds. "Originally, placing an order did everything inside one HTTP request. Now the request only validates and saves the order as NEW, then returns straight away. The order goes onto Kafka, the trade-executor prices it, and a settlement saga debits cash and updates the position. If any step fails, the earlier steps are reversed, so we never end up with cash taken but no shares. Because messages can be delivered twice, every write is idempotent, and anything that keeps failing lands in a dead-letter topic instead of being lost." Then: "Let's show you." Hand over to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drives, Speaker 4 narrates] ~5.5 minutes. Leave this slide up while switching to the terminal. Before presenting: stack running (./db/scripts/setup-pipeline.sh), ETL_INTERVAL_SECONDS set to ~30, tabs open for terminal, kafka-ui :8086 (trade-events), auth Swagger :8087/docs, dashboard :8085. 1. POST :8087/auth/login with a seed user → copy the token. Optionally open :8087/.well-known/jwks.json: "the only key the other services trust." 2. GET :8083/api/orders/[id] with no token → 401. 3. POST :8083/api/orders with accountId, symbol, side BUY, quantity, priceLimit, idempotencyKey → 201 with status NEW. "It returns straight away: execution is asynchronous." 4. kafka-ui: ORDER_PLACED on orders, then ORDER_FILLED on trade-events with the fill price. 5. GET the order → FILLED. GET :8081/api/accounts/[id] → cash went down. GET :8084/api/positions/[id]/[symbol] → new position. 6. Send the exact same request again, same idempotency key → no second charge. [Rehearse: say exactly what the response is.] 7. Dashboard Live tab shows the trade within seconds; trade analytics shows it after the next ETL run. Backup: if anything fails, play the recorded video. Don't debug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~45 seconds. "Before, every service shared one secret, so any of them could forge a token. Now only auth-service can sign tokens, with a private key it never shares. Every other service downloads the public key from its JWKS endpoint and checks the signature, the issuer and the audience. Passwords are hashed with argon2id, and existing users' old BCrypt hashes are upgraded the next time they log in, so nobody had to reset their password." [Update the "Finishing this sprint" line to match the board on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~45 seconds. "Every push runs through Jenkins: five services built in parallel, unit tests, the Python tests, then an end-to-end smoke test that starts the whole stack, places a real order and checks it settles. Then dependency analysis and SonarQube, and the build fails if a quality gate fails." Mention characterisation tests: "Before each big refactor, like moving orders onto Kafka or auth into NestJS, we first wrote tests that pinned the existing behaviour, so we'd know if we broke anything." If possible, show a screenshot of a green Jenkins stage view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~45 seconds. Pick the story you can tell best for each card, ideally a real moment (a test that caught a bug, a message that landed in a dead-letter topic). [Team: check these reasons match why you actually made each decision, and replace the lesson lines with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~30 seconds. "Next sprint we put an Angular front end on all of this. For our extension we've picked pre-trade compliance: checks that block or warn on risky orders before they reach Kafka, with a full audit trail. Then we deploy to AWS." [Only say the extension is claimed once the instructor has confirmed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speakers. Decide in advance who answers what: data and ETL [name], Kafka and execution [name], auth [name], CI and testing [name]. Likely questions: Why Kafka instead of calling the executor directly? What happens if the executor crashes mid-settlement? Why not Snowflake? How do you stop a duplicate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221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01"/>
            <a:ext cx="10566400" cy="4165699"/>
          </a:xfrm>
          <a:prstGeom prst="rect">
            <a:avLst/>
          </a:prstGeom>
          <a:noFill/>
          <a:ln/>
        </p:spPr>
        <p:txBody>
          <a:bodyPr wrap="square" lIns="0" tIns="0" rIns="0" bIns="0" rtlCol="0" anchor="t"/>
          <a:lstStyle>
            <a:lvl1pPr algn="l" indent="0" marL="0">
              <a:lnSpc>
                <a:spcPct val="140000"/>
              </a:lnSpc>
              <a:buNone/>
              <a:defRPr lang="en-US" sz="1600" dirty="0">
                <a:solidFill>
                  <a:srgbClr val="1221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221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01"/>
            <a:ext cx="10566400" cy="4165699"/>
          </a:xfrm>
          <a:prstGeom prst="rect">
            <a:avLst/>
          </a:prstGeom>
          <a:noFill/>
          <a:ln/>
        </p:spPr>
        <p:txBody>
          <a:bodyPr wrap="square" lIns="0" tIns="0" rIns="0" bIns="0" rtlCol="0" anchor="t"/>
          <a:lstStyle>
            <a:lvl1pPr algn="l" indent="0" marL="0">
              <a:lnSpc>
                <a:spcPct val="140000"/>
              </a:lnSpc>
              <a:buNone/>
              <a:defRPr lang="en-US" sz="1600" dirty="0">
                <a:solidFill>
                  <a:srgbClr val="1221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2B"/>
        </a:solidFill>
      </p:bgPr>
    </p:bg>
    <p:spTree>
      <p:nvGrpSpPr>
        <p:cNvPr id="1" name=""/>
        <p:cNvGrpSpPr/>
        <p:nvPr/>
      </p:nvGrpSpPr>
      <p:grpSpPr>
        <a:xfrm>
          <a:off x="0" y="0"/>
          <a:ext cx="0" cy="0"/>
          <a:chOff x="0" y="0"/>
          <a:chExt cx="0" cy="0"/>
        </a:xfrm>
      </p:grpSpPr>
      <p:sp>
        <p:nvSpPr>
          <p:cNvPr id="2" name="Shape 0"/>
          <p:cNvSpPr/>
          <p:nvPr/>
        </p:nvSpPr>
        <p:spPr>
          <a:xfrm>
            <a:off x="812800" y="812800"/>
            <a:ext cx="1016000" cy="76200"/>
          </a:xfrm>
          <a:prstGeom prst="roundRect">
            <a:avLst>
              <a:gd name="adj" fmla="val 50000"/>
            </a:avLst>
          </a:prstGeom>
          <a:solidFill>
            <a:srgbClr val="6FD3A0"/>
          </a:solidFill>
          <a:ln/>
        </p:spPr>
      </p:sp>
      <p:sp>
        <p:nvSpPr>
          <p:cNvPr id="3" name="Text 1"/>
          <p:cNvSpPr/>
          <p:nvPr/>
        </p:nvSpPr>
        <p:spPr>
          <a:xfrm>
            <a:off x="812800" y="332501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6FD3A0"/>
                </a:solidFill>
                <a:latin typeface="JetBrains Mono" pitchFamily="49" charset="0"/>
                <a:ea typeface="JetBrains Mono" pitchFamily="49" charset="-122"/>
                <a:cs typeface="JetBrains Mono" pitchFamily="49" charset="-120"/>
              </a:rPr>
              <a:t>ENTERPRISE TRADING PLATFORM · PROGRESS SHOWCASE</a:t>
            </a:r>
            <a:endParaRPr lang="en-US" sz="1400" dirty="0"/>
          </a:p>
        </p:txBody>
      </p:sp>
      <p:sp>
        <p:nvSpPr>
          <p:cNvPr id="4" name="Text 2"/>
          <p:cNvSpPr/>
          <p:nvPr>
            <p:ph type="title"/>
          </p:nvPr>
        </p:nvSpPr>
        <p:spPr>
          <a:xfrm>
            <a:off x="812800" y="3777059"/>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spc="-150" kern="0" dirty="0">
                <a:solidFill>
                  <a:srgbClr val="F5F4EE"/>
                </a:solidFill>
                <a:latin typeface="IBM Plex Sans" pitchFamily="34" charset="0"/>
                <a:ea typeface="IBM Plex Sans" pitchFamily="34" charset="-122"/>
                <a:cs typeface="IBM Plex Sans" pitchFamily="34" charset="-120"/>
              </a:rPr>
              <a:t>The UnderFrogs</a:t>
            </a:r>
            <a:endParaRPr lang="en-US" sz="8000" dirty="0"/>
          </a:p>
        </p:txBody>
      </p:sp>
      <p:sp>
        <p:nvSpPr>
          <p:cNvPr id="5" name="Text 3"/>
          <p:cNvSpPr/>
          <p:nvPr/>
        </p:nvSpPr>
        <p:spPr>
          <a:xfrm>
            <a:off x="812800" y="4996259"/>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D0D6"/>
                </a:solidFill>
                <a:latin typeface="IBM Plex Sans" pitchFamily="34" charset="0"/>
                <a:ea typeface="IBM Plex Sans" pitchFamily="34" charset="-122"/>
                <a:cs typeface="IBM Plex Sans" pitchFamily="34" charset="-120"/>
              </a:rPr>
              <a:t>What we've built so far: sprints 3 to 8</a:t>
            </a:r>
            <a:endParaRPr lang="en-US" sz="2200" dirty="0"/>
          </a:p>
        </p:txBody>
      </p:sp>
      <p:sp>
        <p:nvSpPr>
          <p:cNvPr id="6" name="Shape 4"/>
          <p:cNvSpPr/>
          <p:nvPr/>
        </p:nvSpPr>
        <p:spPr>
          <a:xfrm>
            <a:off x="812800" y="5568950"/>
            <a:ext cx="10566400" cy="0"/>
          </a:xfrm>
          <a:prstGeom prst="line">
            <a:avLst/>
          </a:prstGeom>
          <a:noFill/>
          <a:ln w="12700">
            <a:solidFill>
              <a:srgbClr val="2E4452"/>
            </a:solidFill>
            <a:prstDash val="solid"/>
          </a:ln>
        </p:spPr>
      </p:sp>
      <p:sp>
        <p:nvSpPr>
          <p:cNvPr id="7" name="Text 5"/>
          <p:cNvSpPr/>
          <p:nvPr/>
        </p:nvSpPr>
        <p:spPr>
          <a:xfrm>
            <a:off x="812800" y="5778500"/>
            <a:ext cx="711803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4EE"/>
                </a:solidFill>
                <a:latin typeface="IBM Plex Sans" pitchFamily="34" charset="0"/>
                <a:ea typeface="IBM Plex Sans" pitchFamily="34" charset="-122"/>
                <a:cs typeface="IBM Plex Sans" pitchFamily="34" charset="-120"/>
              </a:rPr>
              <a:t>Marco Nocerino · David Jayakumar · Shane Ginty · Jamie Montgomery</a:t>
            </a:r>
            <a:endParaRPr lang="en-US" sz="1500" dirty="0"/>
          </a:p>
        </p:txBody>
      </p:sp>
      <p:sp>
        <p:nvSpPr>
          <p:cNvPr id="8" name="Text 6"/>
          <p:cNvSpPr/>
          <p:nvPr/>
        </p:nvSpPr>
        <p:spPr>
          <a:xfrm>
            <a:off x="10784780" y="5814120"/>
            <a:ext cx="645220" cy="256480"/>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BFD0D6"/>
                </a:solidFill>
                <a:latin typeface="JetBrains Mono" pitchFamily="49" charset="0"/>
                <a:ea typeface="JetBrains Mono" pitchFamily="49" charset="-122"/>
                <a:cs typeface="JetBrains Mono" pitchFamily="49" charset="-120"/>
              </a:rPr>
              <a:t>[date]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12B"/>
                </a:solidFill>
                <a:latin typeface="IBM Plex Sans" pitchFamily="34" charset="0"/>
                <a:ea typeface="IBM Plex Sans" pitchFamily="34" charset="-122"/>
                <a:cs typeface="IBM Plex Sans" pitchFamily="34" charset="-120"/>
              </a:rPr>
              <a:t>Agenda</a:t>
            </a:r>
            <a:endParaRPr lang="en-US" sz="3200" dirty="0"/>
          </a:p>
        </p:txBody>
      </p:sp>
      <p:sp>
        <p:nvSpPr>
          <p:cNvPr id="3" name="Shape 1"/>
          <p:cNvSpPr/>
          <p:nvPr/>
        </p:nvSpPr>
        <p:spPr>
          <a:xfrm>
            <a:off x="815975" y="1567755"/>
            <a:ext cx="5200650" cy="999430"/>
          </a:xfrm>
          <a:prstGeom prst="roundRect">
            <a:avLst>
              <a:gd name="adj" fmla="val 9848"/>
            </a:avLst>
          </a:prstGeom>
          <a:solidFill>
            <a:srgbClr val="FCFBF8"/>
          </a:solidFill>
          <a:ln w="6350">
            <a:solidFill>
              <a:srgbClr val="E2E0D8"/>
            </a:solidFill>
            <a:prstDash val="solid"/>
          </a:ln>
        </p:spPr>
      </p:sp>
      <p:sp>
        <p:nvSpPr>
          <p:cNvPr id="4" name="Text 2"/>
          <p:cNvSpPr/>
          <p:nvPr/>
        </p:nvSpPr>
        <p:spPr>
          <a:xfrm>
            <a:off x="1022350" y="1774130"/>
            <a:ext cx="36576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E7F55"/>
                </a:solidFill>
                <a:latin typeface="JetBrains Mono" pitchFamily="49" charset="0"/>
                <a:ea typeface="JetBrains Mono" pitchFamily="49" charset="-122"/>
                <a:cs typeface="JetBrains Mono" pitchFamily="49" charset="-120"/>
              </a:rPr>
              <a:t>01</a:t>
            </a:r>
            <a:endParaRPr lang="en-US" sz="2000" dirty="0"/>
          </a:p>
        </p:txBody>
      </p:sp>
      <p:sp>
        <p:nvSpPr>
          <p:cNvPr id="5" name="Text 3"/>
          <p:cNvSpPr/>
          <p:nvPr/>
        </p:nvSpPr>
        <p:spPr>
          <a:xfrm>
            <a:off x="1504950" y="1774130"/>
            <a:ext cx="22129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12B"/>
                </a:solidFill>
                <a:latin typeface="IBM Plex Sans" pitchFamily="34" charset="0"/>
                <a:ea typeface="IBM Plex Sans" pitchFamily="34" charset="-122"/>
                <a:cs typeface="IBM Plex Sans" pitchFamily="34" charset="-120"/>
              </a:rPr>
              <a:t>Who we are</a:t>
            </a:r>
            <a:endParaRPr lang="en-US" sz="2000" dirty="0"/>
          </a:p>
        </p:txBody>
      </p:sp>
      <p:sp>
        <p:nvSpPr>
          <p:cNvPr id="6" name="Text 4"/>
          <p:cNvSpPr/>
          <p:nvPr/>
        </p:nvSpPr>
        <p:spPr>
          <a:xfrm>
            <a:off x="1504950" y="2129730"/>
            <a:ext cx="25781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Team, timeline, how we work</a:t>
            </a:r>
            <a:endParaRPr lang="en-US" sz="1300" dirty="0"/>
          </a:p>
        </p:txBody>
      </p:sp>
      <p:sp>
        <p:nvSpPr>
          <p:cNvPr id="7" name="Shape 5"/>
          <p:cNvSpPr/>
          <p:nvPr/>
        </p:nvSpPr>
        <p:spPr>
          <a:xfrm>
            <a:off x="6175375" y="1567755"/>
            <a:ext cx="5200650" cy="999430"/>
          </a:xfrm>
          <a:prstGeom prst="roundRect">
            <a:avLst>
              <a:gd name="adj" fmla="val 9848"/>
            </a:avLst>
          </a:prstGeom>
          <a:solidFill>
            <a:srgbClr val="FCFBF8"/>
          </a:solidFill>
          <a:ln w="6350">
            <a:solidFill>
              <a:srgbClr val="E2E0D8"/>
            </a:solidFill>
            <a:prstDash val="solid"/>
          </a:ln>
        </p:spPr>
      </p:sp>
      <p:sp>
        <p:nvSpPr>
          <p:cNvPr id="8" name="Text 6"/>
          <p:cNvSpPr/>
          <p:nvPr/>
        </p:nvSpPr>
        <p:spPr>
          <a:xfrm>
            <a:off x="6381750" y="1774130"/>
            <a:ext cx="36576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E7F55"/>
                </a:solidFill>
                <a:latin typeface="JetBrains Mono" pitchFamily="49" charset="0"/>
                <a:ea typeface="JetBrains Mono" pitchFamily="49" charset="-122"/>
                <a:cs typeface="JetBrains Mono" pitchFamily="49" charset="-120"/>
              </a:rPr>
              <a:t>02</a:t>
            </a:r>
            <a:endParaRPr lang="en-US" sz="2000" dirty="0"/>
          </a:p>
        </p:txBody>
      </p:sp>
      <p:sp>
        <p:nvSpPr>
          <p:cNvPr id="9" name="Text 7"/>
          <p:cNvSpPr/>
          <p:nvPr/>
        </p:nvSpPr>
        <p:spPr>
          <a:xfrm>
            <a:off x="6864350" y="1774130"/>
            <a:ext cx="341884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12B"/>
                </a:solidFill>
                <a:latin typeface="IBM Plex Sans" pitchFamily="34" charset="0"/>
                <a:ea typeface="IBM Plex Sans" pitchFamily="34" charset="-122"/>
                <a:cs typeface="IBM Plex Sans" pitchFamily="34" charset="-120"/>
              </a:rPr>
              <a:t>What we built</a:t>
            </a:r>
            <a:endParaRPr lang="en-US" sz="2000" dirty="0"/>
          </a:p>
        </p:txBody>
      </p:sp>
      <p:sp>
        <p:nvSpPr>
          <p:cNvPr id="10" name="Text 8"/>
          <p:cNvSpPr/>
          <p:nvPr/>
        </p:nvSpPr>
        <p:spPr>
          <a:xfrm>
            <a:off x="6864350" y="2129730"/>
            <a:ext cx="398311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Architecture, data model, live and batch data</a:t>
            </a:r>
            <a:endParaRPr lang="en-US" sz="1300" dirty="0"/>
          </a:p>
        </p:txBody>
      </p:sp>
      <p:sp>
        <p:nvSpPr>
          <p:cNvPr id="11" name="Shape 9"/>
          <p:cNvSpPr/>
          <p:nvPr/>
        </p:nvSpPr>
        <p:spPr>
          <a:xfrm>
            <a:off x="815975" y="2725936"/>
            <a:ext cx="5200650" cy="999430"/>
          </a:xfrm>
          <a:prstGeom prst="roundRect">
            <a:avLst>
              <a:gd name="adj" fmla="val 9848"/>
            </a:avLst>
          </a:prstGeom>
          <a:solidFill>
            <a:srgbClr val="12212B"/>
          </a:solidFill>
          <a:ln w="6350">
            <a:solidFill>
              <a:srgbClr val="12212B"/>
            </a:solidFill>
            <a:prstDash val="solid"/>
          </a:ln>
        </p:spPr>
      </p:sp>
      <p:sp>
        <p:nvSpPr>
          <p:cNvPr id="12" name="Text 10"/>
          <p:cNvSpPr/>
          <p:nvPr/>
        </p:nvSpPr>
        <p:spPr>
          <a:xfrm>
            <a:off x="1022350" y="2932311"/>
            <a:ext cx="36576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6FD3A0"/>
                </a:solidFill>
                <a:latin typeface="JetBrains Mono" pitchFamily="49" charset="0"/>
                <a:ea typeface="JetBrains Mono" pitchFamily="49" charset="-122"/>
                <a:cs typeface="JetBrains Mono" pitchFamily="49" charset="-120"/>
              </a:rPr>
              <a:t>03</a:t>
            </a:r>
            <a:endParaRPr lang="en-US" sz="2000" dirty="0"/>
          </a:p>
        </p:txBody>
      </p:sp>
      <p:sp>
        <p:nvSpPr>
          <p:cNvPr id="13" name="Text 11"/>
          <p:cNvSpPr/>
          <p:nvPr/>
        </p:nvSpPr>
        <p:spPr>
          <a:xfrm>
            <a:off x="1504950" y="2932311"/>
            <a:ext cx="3328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4EE"/>
                </a:solidFill>
                <a:latin typeface="IBM Plex Sans" pitchFamily="34" charset="0"/>
                <a:ea typeface="IBM Plex Sans" pitchFamily="34" charset="-122"/>
                <a:cs typeface="IBM Plex Sans" pitchFamily="34" charset="-120"/>
              </a:rPr>
              <a:t>How a trade works</a:t>
            </a:r>
            <a:endParaRPr lang="en-US" sz="2000" dirty="0"/>
          </a:p>
        </p:txBody>
      </p:sp>
      <p:sp>
        <p:nvSpPr>
          <p:cNvPr id="14" name="Text 12"/>
          <p:cNvSpPr/>
          <p:nvPr/>
        </p:nvSpPr>
        <p:spPr>
          <a:xfrm>
            <a:off x="1504950" y="3287911"/>
            <a:ext cx="387822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0D6"/>
                </a:solidFill>
                <a:latin typeface="IBM Plex Sans" pitchFamily="34" charset="0"/>
                <a:ea typeface="IBM Plex Sans" pitchFamily="34" charset="-122"/>
                <a:cs typeface="IBM Plex Sans" pitchFamily="34" charset="-120"/>
              </a:rPr>
              <a:t>Order lifecycle over Kafka, then a </a:t>
            </a:r>
            <a:r>
              <a:rPr lang="en-US" sz="1300" b="1" dirty="0">
                <a:solidFill>
                  <a:srgbClr val="BFD0D6"/>
                </a:solidFill>
                <a:latin typeface="IBM Plex Sans" pitchFamily="34" charset="0"/>
                <a:ea typeface="IBM Plex Sans" pitchFamily="34" charset="-122"/>
                <a:cs typeface="IBM Plex Sans" pitchFamily="34" charset="-120"/>
              </a:rPr>
              <a:t>live demo</a:t>
            </a:r>
            <a:endParaRPr lang="en-US" sz="1300" dirty="0"/>
          </a:p>
        </p:txBody>
      </p:sp>
      <p:sp>
        <p:nvSpPr>
          <p:cNvPr id="15" name="Shape 13"/>
          <p:cNvSpPr/>
          <p:nvPr/>
        </p:nvSpPr>
        <p:spPr>
          <a:xfrm>
            <a:off x="6175375" y="2725936"/>
            <a:ext cx="5200650" cy="999430"/>
          </a:xfrm>
          <a:prstGeom prst="roundRect">
            <a:avLst>
              <a:gd name="adj" fmla="val 9848"/>
            </a:avLst>
          </a:prstGeom>
          <a:solidFill>
            <a:srgbClr val="FCFBF8"/>
          </a:solidFill>
          <a:ln w="6350">
            <a:solidFill>
              <a:srgbClr val="E2E0D8"/>
            </a:solidFill>
            <a:prstDash val="solid"/>
          </a:ln>
        </p:spPr>
      </p:sp>
      <p:sp>
        <p:nvSpPr>
          <p:cNvPr id="16" name="Text 14"/>
          <p:cNvSpPr/>
          <p:nvPr/>
        </p:nvSpPr>
        <p:spPr>
          <a:xfrm>
            <a:off x="6381750" y="2932311"/>
            <a:ext cx="36576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E7F55"/>
                </a:solidFill>
                <a:latin typeface="JetBrains Mono" pitchFamily="49" charset="0"/>
                <a:ea typeface="JetBrains Mono" pitchFamily="49" charset="-122"/>
                <a:cs typeface="JetBrains Mono" pitchFamily="49" charset="-120"/>
              </a:rPr>
              <a:t>04</a:t>
            </a:r>
            <a:endParaRPr lang="en-US" sz="2000" dirty="0"/>
          </a:p>
        </p:txBody>
      </p:sp>
      <p:sp>
        <p:nvSpPr>
          <p:cNvPr id="17" name="Text 15"/>
          <p:cNvSpPr/>
          <p:nvPr/>
        </p:nvSpPr>
        <p:spPr>
          <a:xfrm>
            <a:off x="6864350" y="2932311"/>
            <a:ext cx="264082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12B"/>
                </a:solidFill>
                <a:latin typeface="IBM Plex Sans" pitchFamily="34" charset="0"/>
                <a:ea typeface="IBM Plex Sans" pitchFamily="34" charset="-122"/>
                <a:cs typeface="IBM Plex Sans" pitchFamily="34" charset="-120"/>
              </a:rPr>
              <a:t>Security and quality</a:t>
            </a:r>
            <a:endParaRPr lang="en-US" sz="2000" dirty="0"/>
          </a:p>
        </p:txBody>
      </p:sp>
      <p:sp>
        <p:nvSpPr>
          <p:cNvPr id="18" name="Text 16"/>
          <p:cNvSpPr/>
          <p:nvPr/>
        </p:nvSpPr>
        <p:spPr>
          <a:xfrm>
            <a:off x="6864350" y="3287911"/>
            <a:ext cx="307669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JWKS auth, testing, the CI pipeline</a:t>
            </a:r>
            <a:endParaRPr lang="en-US" sz="1300" dirty="0"/>
          </a:p>
        </p:txBody>
      </p:sp>
      <p:sp>
        <p:nvSpPr>
          <p:cNvPr id="19" name="Shape 17"/>
          <p:cNvSpPr/>
          <p:nvPr/>
        </p:nvSpPr>
        <p:spPr>
          <a:xfrm>
            <a:off x="815975" y="3884116"/>
            <a:ext cx="5200650" cy="999430"/>
          </a:xfrm>
          <a:prstGeom prst="roundRect">
            <a:avLst>
              <a:gd name="adj" fmla="val 9848"/>
            </a:avLst>
          </a:prstGeom>
          <a:solidFill>
            <a:srgbClr val="FCFBF8"/>
          </a:solidFill>
          <a:ln w="6350">
            <a:solidFill>
              <a:srgbClr val="E2E0D8"/>
            </a:solidFill>
            <a:prstDash val="solid"/>
          </a:ln>
        </p:spPr>
      </p:sp>
      <p:sp>
        <p:nvSpPr>
          <p:cNvPr id="20" name="Text 18"/>
          <p:cNvSpPr/>
          <p:nvPr/>
        </p:nvSpPr>
        <p:spPr>
          <a:xfrm>
            <a:off x="1022350" y="4090491"/>
            <a:ext cx="36576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E7F55"/>
                </a:solidFill>
                <a:latin typeface="JetBrains Mono" pitchFamily="49" charset="0"/>
                <a:ea typeface="JetBrains Mono" pitchFamily="49" charset="-122"/>
                <a:cs typeface="JetBrains Mono" pitchFamily="49" charset="-120"/>
              </a:rPr>
              <a:t>05</a:t>
            </a:r>
            <a:endParaRPr lang="en-US" sz="2000" dirty="0"/>
          </a:p>
        </p:txBody>
      </p:sp>
      <p:sp>
        <p:nvSpPr>
          <p:cNvPr id="21" name="Text 19"/>
          <p:cNvSpPr/>
          <p:nvPr/>
        </p:nvSpPr>
        <p:spPr>
          <a:xfrm>
            <a:off x="1504950" y="4090491"/>
            <a:ext cx="204135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12B"/>
                </a:solidFill>
                <a:latin typeface="IBM Plex Sans" pitchFamily="34" charset="0"/>
                <a:ea typeface="IBM Plex Sans" pitchFamily="34" charset="-122"/>
                <a:cs typeface="IBM Plex Sans" pitchFamily="34" charset="-120"/>
              </a:rPr>
              <a:t>Lessons learned</a:t>
            </a:r>
            <a:endParaRPr lang="en-US" sz="2000" dirty="0"/>
          </a:p>
        </p:txBody>
      </p:sp>
      <p:sp>
        <p:nvSpPr>
          <p:cNvPr id="22" name="Text 20"/>
          <p:cNvSpPr/>
          <p:nvPr/>
        </p:nvSpPr>
        <p:spPr>
          <a:xfrm>
            <a:off x="1504950" y="4446091"/>
            <a:ext cx="237827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Decisions we'd make again</a:t>
            </a:r>
            <a:endParaRPr lang="en-US" sz="1300" dirty="0"/>
          </a:p>
        </p:txBody>
      </p:sp>
      <p:sp>
        <p:nvSpPr>
          <p:cNvPr id="23" name="Shape 21"/>
          <p:cNvSpPr/>
          <p:nvPr/>
        </p:nvSpPr>
        <p:spPr>
          <a:xfrm>
            <a:off x="6175375" y="3884116"/>
            <a:ext cx="5200650" cy="999430"/>
          </a:xfrm>
          <a:prstGeom prst="roundRect">
            <a:avLst>
              <a:gd name="adj" fmla="val 9848"/>
            </a:avLst>
          </a:prstGeom>
          <a:solidFill>
            <a:srgbClr val="FCFBF8"/>
          </a:solidFill>
          <a:ln w="6350">
            <a:solidFill>
              <a:srgbClr val="E2E0D8"/>
            </a:solidFill>
            <a:prstDash val="solid"/>
          </a:ln>
        </p:spPr>
      </p:sp>
      <p:sp>
        <p:nvSpPr>
          <p:cNvPr id="24" name="Text 22"/>
          <p:cNvSpPr/>
          <p:nvPr/>
        </p:nvSpPr>
        <p:spPr>
          <a:xfrm>
            <a:off x="6381750" y="4090491"/>
            <a:ext cx="36576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E7F55"/>
                </a:solidFill>
                <a:latin typeface="JetBrains Mono" pitchFamily="49" charset="0"/>
                <a:ea typeface="JetBrains Mono" pitchFamily="49" charset="-122"/>
                <a:cs typeface="JetBrains Mono" pitchFamily="49" charset="-120"/>
              </a:rPr>
              <a:t>06</a:t>
            </a:r>
            <a:endParaRPr lang="en-US" sz="2000" dirty="0"/>
          </a:p>
        </p:txBody>
      </p:sp>
      <p:sp>
        <p:nvSpPr>
          <p:cNvPr id="25" name="Text 23"/>
          <p:cNvSpPr/>
          <p:nvPr/>
        </p:nvSpPr>
        <p:spPr>
          <a:xfrm>
            <a:off x="6864350" y="4090491"/>
            <a:ext cx="21466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12B"/>
                </a:solidFill>
                <a:latin typeface="IBM Plex Sans" pitchFamily="34" charset="0"/>
                <a:ea typeface="IBM Plex Sans" pitchFamily="34" charset="-122"/>
                <a:cs typeface="IBM Plex Sans" pitchFamily="34" charset="-120"/>
              </a:rPr>
              <a:t>What's next</a:t>
            </a:r>
            <a:endParaRPr lang="en-US" sz="2000" dirty="0"/>
          </a:p>
        </p:txBody>
      </p:sp>
      <p:sp>
        <p:nvSpPr>
          <p:cNvPr id="26" name="Text 24"/>
          <p:cNvSpPr/>
          <p:nvPr/>
        </p:nvSpPr>
        <p:spPr>
          <a:xfrm>
            <a:off x="6864350" y="4446091"/>
            <a:ext cx="25009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Angular, our extension, AWS</a:t>
            </a:r>
            <a:endParaRPr lang="en-US" sz="1300" dirty="0"/>
          </a:p>
        </p:txBody>
      </p:sp>
      <p:sp>
        <p:nvSpPr>
          <p:cNvPr id="27" name="Text 2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JetBrains Mono" pitchFamily="49" charset="0"/>
                <a:ea typeface="JetBrains Mono" pitchFamily="49" charset="-122"/>
                <a:cs typeface="JetBrains Mono" pitchFamily="49" charset="-120"/>
              </a:rPr>
              <a:t>The UnderFrogs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E7F55"/>
                </a:solidFill>
                <a:latin typeface="JetBrains Mono" pitchFamily="49" charset="0"/>
                <a:ea typeface="JetBrains Mono" pitchFamily="49" charset="-122"/>
                <a:cs typeface="JetBrains Mono" pitchFamily="49" charset="-120"/>
              </a:rPr>
              <a:t>01 · WHO WE ARE</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12B"/>
                </a:solidFill>
                <a:latin typeface="IBM Plex Sans" pitchFamily="34" charset="0"/>
                <a:ea typeface="IBM Plex Sans" pitchFamily="34" charset="-122"/>
                <a:cs typeface="IBM Plex Sans" pitchFamily="34" charset="-120"/>
              </a:rPr>
              <a:t>Four developers, seven weeks, one platform</a:t>
            </a:r>
            <a:endParaRPr lang="en-US" sz="3200" dirty="0"/>
          </a:p>
        </p:txBody>
      </p:sp>
      <p:sp>
        <p:nvSpPr>
          <p:cNvPr id="4" name="Shape 2"/>
          <p:cNvSpPr/>
          <p:nvPr/>
        </p:nvSpPr>
        <p:spPr>
          <a:xfrm>
            <a:off x="815975" y="1882676"/>
            <a:ext cx="2520950" cy="1423591"/>
          </a:xfrm>
          <a:prstGeom prst="roundRect">
            <a:avLst>
              <a:gd name="adj" fmla="val 6914"/>
            </a:avLst>
          </a:prstGeom>
          <a:solidFill>
            <a:srgbClr val="FCFBF8"/>
          </a:solidFill>
          <a:ln w="6350">
            <a:solidFill>
              <a:srgbClr val="E2E0D8"/>
            </a:solidFill>
            <a:prstDash val="solid"/>
          </a:ln>
        </p:spPr>
      </p:sp>
      <p:sp>
        <p:nvSpPr>
          <p:cNvPr id="5" name="Text 3"/>
          <p:cNvSpPr/>
          <p:nvPr/>
        </p:nvSpPr>
        <p:spPr>
          <a:xfrm>
            <a:off x="1073150" y="2139851"/>
            <a:ext cx="206679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E7F55"/>
                </a:solidFill>
                <a:latin typeface="IBM Plex Sans" pitchFamily="34" charset="0"/>
                <a:ea typeface="IBM Plex Sans" pitchFamily="34" charset="-122"/>
                <a:cs typeface="IBM Plex Sans" pitchFamily="34" charset="-120"/>
              </a:rPr>
              <a:t>4</a:t>
            </a:r>
            <a:endParaRPr lang="en-US" sz="4800" dirty="0"/>
          </a:p>
        </p:txBody>
      </p:sp>
      <p:sp>
        <p:nvSpPr>
          <p:cNvPr id="6" name="Text 4"/>
          <p:cNvSpPr/>
          <p:nvPr/>
        </p:nvSpPr>
        <p:spPr>
          <a:xfrm>
            <a:off x="1073150" y="2800251"/>
            <a:ext cx="206679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developers</a:t>
            </a:r>
            <a:endParaRPr lang="en-US" sz="1400" dirty="0"/>
          </a:p>
        </p:txBody>
      </p:sp>
      <p:sp>
        <p:nvSpPr>
          <p:cNvPr id="7" name="Shape 5"/>
          <p:cNvSpPr/>
          <p:nvPr/>
        </p:nvSpPr>
        <p:spPr>
          <a:xfrm>
            <a:off x="3495675" y="1882676"/>
            <a:ext cx="2520950" cy="1423591"/>
          </a:xfrm>
          <a:prstGeom prst="roundRect">
            <a:avLst>
              <a:gd name="adj" fmla="val 6914"/>
            </a:avLst>
          </a:prstGeom>
          <a:solidFill>
            <a:srgbClr val="FCFBF8"/>
          </a:solidFill>
          <a:ln w="6350">
            <a:solidFill>
              <a:srgbClr val="E2E0D8"/>
            </a:solidFill>
            <a:prstDash val="solid"/>
          </a:ln>
        </p:spPr>
      </p:sp>
      <p:sp>
        <p:nvSpPr>
          <p:cNvPr id="8" name="Text 6"/>
          <p:cNvSpPr/>
          <p:nvPr/>
        </p:nvSpPr>
        <p:spPr>
          <a:xfrm>
            <a:off x="3752850" y="2139851"/>
            <a:ext cx="206679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E7F55"/>
                </a:solidFill>
                <a:latin typeface="IBM Plex Sans" pitchFamily="34" charset="0"/>
                <a:ea typeface="IBM Plex Sans" pitchFamily="34" charset="-122"/>
                <a:cs typeface="IBM Plex Sans" pitchFamily="34" charset="-120"/>
              </a:rPr>
              <a:t>7 wks</a:t>
            </a:r>
            <a:endParaRPr lang="en-US" sz="4800" dirty="0"/>
          </a:p>
        </p:txBody>
      </p:sp>
      <p:sp>
        <p:nvSpPr>
          <p:cNvPr id="9" name="Text 7"/>
          <p:cNvSpPr/>
          <p:nvPr/>
        </p:nvSpPr>
        <p:spPr>
          <a:xfrm>
            <a:off x="3752850" y="2800251"/>
            <a:ext cx="206679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20 Aug to 7 Oct</a:t>
            </a:r>
            <a:endParaRPr lang="en-US" sz="1400" dirty="0"/>
          </a:p>
        </p:txBody>
      </p:sp>
      <p:sp>
        <p:nvSpPr>
          <p:cNvPr id="10" name="Shape 8"/>
          <p:cNvSpPr/>
          <p:nvPr/>
        </p:nvSpPr>
        <p:spPr>
          <a:xfrm>
            <a:off x="6175375" y="1882676"/>
            <a:ext cx="2520950" cy="1423591"/>
          </a:xfrm>
          <a:prstGeom prst="roundRect">
            <a:avLst>
              <a:gd name="adj" fmla="val 6914"/>
            </a:avLst>
          </a:prstGeom>
          <a:solidFill>
            <a:srgbClr val="FCFBF8"/>
          </a:solidFill>
          <a:ln w="6350">
            <a:solidFill>
              <a:srgbClr val="E2E0D8"/>
            </a:solidFill>
            <a:prstDash val="solid"/>
          </a:ln>
        </p:spPr>
      </p:sp>
      <p:sp>
        <p:nvSpPr>
          <p:cNvPr id="11" name="Text 9"/>
          <p:cNvSpPr/>
          <p:nvPr/>
        </p:nvSpPr>
        <p:spPr>
          <a:xfrm>
            <a:off x="6432550" y="2139851"/>
            <a:ext cx="206679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E7F55"/>
                </a:solidFill>
                <a:latin typeface="IBM Plex Sans" pitchFamily="34" charset="0"/>
                <a:ea typeface="IBM Plex Sans" pitchFamily="34" charset="-122"/>
                <a:cs typeface="IBM Plex Sans" pitchFamily="34" charset="-120"/>
              </a:rPr>
              <a:t>640</a:t>
            </a:r>
            <a:endParaRPr lang="en-US" sz="4800" dirty="0"/>
          </a:p>
        </p:txBody>
      </p:sp>
      <p:sp>
        <p:nvSpPr>
          <p:cNvPr id="12" name="Text 10"/>
          <p:cNvSpPr/>
          <p:nvPr/>
        </p:nvSpPr>
        <p:spPr>
          <a:xfrm>
            <a:off x="6432550" y="2800251"/>
            <a:ext cx="206679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commits</a:t>
            </a:r>
            <a:endParaRPr lang="en-US" sz="1400" dirty="0"/>
          </a:p>
        </p:txBody>
      </p:sp>
      <p:sp>
        <p:nvSpPr>
          <p:cNvPr id="13" name="Shape 11"/>
          <p:cNvSpPr/>
          <p:nvPr/>
        </p:nvSpPr>
        <p:spPr>
          <a:xfrm>
            <a:off x="8855075" y="1882676"/>
            <a:ext cx="2520950" cy="1423591"/>
          </a:xfrm>
          <a:prstGeom prst="roundRect">
            <a:avLst>
              <a:gd name="adj" fmla="val 6914"/>
            </a:avLst>
          </a:prstGeom>
          <a:solidFill>
            <a:srgbClr val="FCFBF8"/>
          </a:solidFill>
          <a:ln w="6350">
            <a:solidFill>
              <a:srgbClr val="E2E0D8"/>
            </a:solidFill>
            <a:prstDash val="solid"/>
          </a:ln>
        </p:spPr>
      </p:sp>
      <p:sp>
        <p:nvSpPr>
          <p:cNvPr id="14" name="Text 12"/>
          <p:cNvSpPr/>
          <p:nvPr/>
        </p:nvSpPr>
        <p:spPr>
          <a:xfrm>
            <a:off x="9112250" y="2139851"/>
            <a:ext cx="206679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E7F55"/>
                </a:solidFill>
                <a:latin typeface="IBM Plex Sans" pitchFamily="34" charset="0"/>
                <a:ea typeface="IBM Plex Sans" pitchFamily="34" charset="-122"/>
                <a:cs typeface="IBM Plex Sans" pitchFamily="34" charset="-120"/>
              </a:rPr>
              <a:t>136</a:t>
            </a:r>
            <a:endParaRPr lang="en-US" sz="4800" dirty="0"/>
          </a:p>
        </p:txBody>
      </p:sp>
      <p:sp>
        <p:nvSpPr>
          <p:cNvPr id="15" name="Text 13"/>
          <p:cNvSpPr/>
          <p:nvPr/>
        </p:nvSpPr>
        <p:spPr>
          <a:xfrm>
            <a:off x="9112250" y="2800251"/>
            <a:ext cx="206679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merged pull requests</a:t>
            </a:r>
            <a:endParaRPr lang="en-US" sz="1400" dirty="0"/>
          </a:p>
        </p:txBody>
      </p:sp>
      <p:sp>
        <p:nvSpPr>
          <p:cNvPr id="16" name="Text 14"/>
          <p:cNvSpPr/>
          <p:nvPr/>
        </p:nvSpPr>
        <p:spPr>
          <a:xfrm>
            <a:off x="812800" y="3614241"/>
            <a:ext cx="1088339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212B"/>
                </a:solidFill>
                <a:latin typeface="IBM Plex Sans" pitchFamily="34" charset="0"/>
                <a:ea typeface="IBM Plex Sans" pitchFamily="34" charset="-122"/>
                <a:cs typeface="IBM Plex Sans" pitchFamily="34" charset="-120"/>
              </a:rPr>
              <a:t>How we work</a:t>
            </a:r>
            <a:endParaRPr lang="en-US" sz="1800" dirty="0"/>
          </a:p>
        </p:txBody>
      </p:sp>
      <p:sp>
        <p:nvSpPr>
          <p:cNvPr id="17" name="Shape 15"/>
          <p:cNvSpPr/>
          <p:nvPr/>
        </p:nvSpPr>
        <p:spPr>
          <a:xfrm>
            <a:off x="825500" y="4015482"/>
            <a:ext cx="0" cy="797322"/>
          </a:xfrm>
          <a:prstGeom prst="line">
            <a:avLst/>
          </a:prstGeom>
          <a:noFill/>
          <a:ln w="25400">
            <a:solidFill>
              <a:srgbClr val="1E7F55"/>
            </a:solidFill>
            <a:prstDash val="solid"/>
          </a:ln>
        </p:spPr>
      </p:sp>
      <p:sp>
        <p:nvSpPr>
          <p:cNvPr id="18" name="Text 16"/>
          <p:cNvSpPr/>
          <p:nvPr/>
        </p:nvSpPr>
        <p:spPr>
          <a:xfrm>
            <a:off x="965200" y="4040882"/>
            <a:ext cx="2446147"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12B"/>
                </a:solidFill>
                <a:latin typeface="IBM Plex Sans" pitchFamily="34" charset="0"/>
                <a:ea typeface="IBM Plex Sans" pitchFamily="34" charset="-122"/>
                <a:cs typeface="IBM Plex Sans" pitchFamily="34" charset="-120"/>
              </a:rPr>
              <a:t>GitFlow</a:t>
            </a:r>
            <a:endParaRPr lang="en-US" sz="1400" dirty="0"/>
          </a:p>
          <a:p>
            <a:pPr algn="l"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feature → develop → main</a:t>
            </a:r>
            <a:endParaRPr lang="en-US" sz="1400" dirty="0"/>
          </a:p>
        </p:txBody>
      </p:sp>
      <p:sp>
        <p:nvSpPr>
          <p:cNvPr id="19" name="Shape 17"/>
          <p:cNvSpPr/>
          <p:nvPr/>
        </p:nvSpPr>
        <p:spPr>
          <a:xfrm>
            <a:off x="3505200" y="4015482"/>
            <a:ext cx="0" cy="797322"/>
          </a:xfrm>
          <a:prstGeom prst="line">
            <a:avLst/>
          </a:prstGeom>
          <a:noFill/>
          <a:ln w="25400">
            <a:solidFill>
              <a:srgbClr val="1E7F55"/>
            </a:solidFill>
            <a:prstDash val="solid"/>
          </a:ln>
        </p:spPr>
      </p:sp>
      <p:sp>
        <p:nvSpPr>
          <p:cNvPr id="20" name="Text 18"/>
          <p:cNvSpPr/>
          <p:nvPr/>
        </p:nvSpPr>
        <p:spPr>
          <a:xfrm>
            <a:off x="3644900" y="4040882"/>
            <a:ext cx="2446147"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12B"/>
                </a:solidFill>
                <a:latin typeface="IBM Plex Sans" pitchFamily="34" charset="0"/>
                <a:ea typeface="IBM Plex Sans" pitchFamily="34" charset="-122"/>
                <a:cs typeface="IBM Plex Sans" pitchFamily="34" charset="-120"/>
              </a:rPr>
              <a:t>Jira sprints</a:t>
            </a:r>
            <a:endParaRPr lang="en-US" sz="1400" dirty="0"/>
          </a:p>
          <a:p>
            <a:pPr algn="l"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stories, points, owners</a:t>
            </a:r>
            <a:endParaRPr lang="en-US" sz="1400" dirty="0"/>
          </a:p>
        </p:txBody>
      </p:sp>
      <p:sp>
        <p:nvSpPr>
          <p:cNvPr id="21" name="Shape 19"/>
          <p:cNvSpPr/>
          <p:nvPr/>
        </p:nvSpPr>
        <p:spPr>
          <a:xfrm>
            <a:off x="6184900" y="4015482"/>
            <a:ext cx="0" cy="797322"/>
          </a:xfrm>
          <a:prstGeom prst="line">
            <a:avLst/>
          </a:prstGeom>
          <a:noFill/>
          <a:ln w="25400">
            <a:solidFill>
              <a:srgbClr val="1E7F55"/>
            </a:solidFill>
            <a:prstDash val="solid"/>
          </a:ln>
        </p:spPr>
      </p:sp>
      <p:sp>
        <p:nvSpPr>
          <p:cNvPr id="22" name="Text 20"/>
          <p:cNvSpPr/>
          <p:nvPr/>
        </p:nvSpPr>
        <p:spPr>
          <a:xfrm>
            <a:off x="6324600" y="4040882"/>
            <a:ext cx="2446147"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12B"/>
                </a:solidFill>
                <a:latin typeface="IBM Plex Sans" pitchFamily="34" charset="0"/>
                <a:ea typeface="IBM Plex Sans" pitchFamily="34" charset="-122"/>
                <a:cs typeface="IBM Plex Sans" pitchFamily="34" charset="-120"/>
              </a:rPr>
              <a:t>Reviewed PRs</a:t>
            </a:r>
            <a:endParaRPr lang="en-US" sz="1400" dirty="0"/>
          </a:p>
          <a:p>
            <a:pPr algn="l"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no direct pushes to develop</a:t>
            </a:r>
            <a:endParaRPr lang="en-US" sz="1400" dirty="0"/>
          </a:p>
        </p:txBody>
      </p:sp>
      <p:sp>
        <p:nvSpPr>
          <p:cNvPr id="23" name="Shape 21"/>
          <p:cNvSpPr/>
          <p:nvPr/>
        </p:nvSpPr>
        <p:spPr>
          <a:xfrm>
            <a:off x="8864600" y="4015482"/>
            <a:ext cx="0" cy="797322"/>
          </a:xfrm>
          <a:prstGeom prst="line">
            <a:avLst/>
          </a:prstGeom>
          <a:noFill/>
          <a:ln w="25400">
            <a:solidFill>
              <a:srgbClr val="1E7F55"/>
            </a:solidFill>
            <a:prstDash val="solid"/>
          </a:ln>
        </p:spPr>
      </p:sp>
      <p:sp>
        <p:nvSpPr>
          <p:cNvPr id="24" name="Text 22"/>
          <p:cNvSpPr/>
          <p:nvPr/>
        </p:nvSpPr>
        <p:spPr>
          <a:xfrm>
            <a:off x="9004300" y="4040882"/>
            <a:ext cx="2446147"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12B"/>
                </a:solidFill>
                <a:latin typeface="IBM Plex Sans" pitchFamily="34" charset="0"/>
                <a:ea typeface="IBM Plex Sans" pitchFamily="34" charset="-122"/>
                <a:cs typeface="IBM Plex Sans" pitchFamily="34" charset="-120"/>
              </a:rPr>
              <a:t>Tests first</a:t>
            </a:r>
            <a:endParaRPr lang="en-US" sz="1400" dirty="0"/>
          </a:p>
          <a:p>
            <a:pPr algn="l"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pin behaviour before refactors</a:t>
            </a:r>
            <a:endParaRPr lang="en-US" sz="1400" dirty="0"/>
          </a:p>
        </p:txBody>
      </p:sp>
      <p:sp>
        <p:nvSpPr>
          <p:cNvPr id="25"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JetBrains Mono" pitchFamily="49" charset="0"/>
                <a:ea typeface="JetBrains Mono" pitchFamily="49" charset="-122"/>
                <a:cs typeface="JetBrains Mono" pitchFamily="49" charset="-120"/>
              </a:rPr>
              <a:t>The UnderFrogs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E7F55"/>
                </a:solidFill>
                <a:latin typeface="JetBrains Mono" pitchFamily="49" charset="0"/>
                <a:ea typeface="JetBrains Mono" pitchFamily="49" charset="-122"/>
                <a:cs typeface="JetBrains Mono" pitchFamily="49" charset="-120"/>
              </a:rPr>
              <a:t>02 · WHAT WE BUILT</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12B"/>
                </a:solidFill>
                <a:latin typeface="IBM Plex Sans" pitchFamily="34" charset="0"/>
                <a:ea typeface="IBM Plex Sans" pitchFamily="34" charset="-122"/>
                <a:cs typeface="IBM Plex Sans" pitchFamily="34" charset="-120"/>
              </a:rPr>
              <a:t>Seven services, one event backbone</a:t>
            </a:r>
            <a:endParaRPr lang="en-US" sz="3200" dirty="0"/>
          </a:p>
        </p:txBody>
      </p:sp>
      <p:sp>
        <p:nvSpPr>
          <p:cNvPr id="4" name="Text 2"/>
          <p:cNvSpPr/>
          <p:nvPr/>
        </p:nvSpPr>
        <p:spPr>
          <a:xfrm>
            <a:off x="819150" y="1733451"/>
            <a:ext cx="10553700" cy="396180"/>
          </a:xfrm>
          <a:prstGeom prst="roundRect">
            <a:avLst>
              <a:gd name="adj" fmla="val 17631"/>
            </a:avLst>
          </a:prstGeom>
          <a:noFill/>
          <a:ln w="12700">
            <a:solidFill>
              <a:srgbClr val="B9B6AA"/>
            </a:solidFill>
            <a:prstDash val="dash"/>
          </a:ln>
        </p:spPr>
        <p:txBody>
          <a:bodyPr wrap="square" lIns="0" tIns="62092" rIns="0" bIns="36692" rtlCol="0" anchor="t">
            <a:normAutofit/>
          </a:bodyPr>
          <a:lstStyle/>
          <a:p>
            <a:pPr algn="ctr"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Client: curl and Swagger today · Angular UI next sprint</a:t>
            </a:r>
            <a:endParaRPr lang="en-US" sz="1300" dirty="0"/>
          </a:p>
        </p:txBody>
      </p:sp>
      <p:sp>
        <p:nvSpPr>
          <p:cNvPr id="5" name="Shape 3"/>
          <p:cNvSpPr/>
          <p:nvPr/>
        </p:nvSpPr>
        <p:spPr>
          <a:xfrm>
            <a:off x="812800" y="2288381"/>
            <a:ext cx="2001441" cy="784820"/>
          </a:xfrm>
          <a:prstGeom prst="roundRect">
            <a:avLst>
              <a:gd name="adj" fmla="val 9709"/>
            </a:avLst>
          </a:prstGeom>
          <a:solidFill>
            <a:srgbClr val="12212B"/>
          </a:solidFill>
          <a:ln/>
        </p:spPr>
      </p:sp>
      <p:sp>
        <p:nvSpPr>
          <p:cNvPr id="6" name="Text 4"/>
          <p:cNvSpPr/>
          <p:nvPr/>
        </p:nvSpPr>
        <p:spPr>
          <a:xfrm>
            <a:off x="965200" y="2440781"/>
            <a:ext cx="17475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F4EE"/>
                </a:solidFill>
                <a:latin typeface="IBM Plex Sans" pitchFamily="34" charset="0"/>
                <a:ea typeface="IBM Plex Sans" pitchFamily="34" charset="-122"/>
                <a:cs typeface="IBM Plex Sans" pitchFamily="34" charset="-120"/>
              </a:rPr>
              <a:t>auth-service</a:t>
            </a:r>
            <a:endParaRPr lang="en-US" sz="1500" dirty="0"/>
          </a:p>
        </p:txBody>
      </p:sp>
      <p:sp>
        <p:nvSpPr>
          <p:cNvPr id="7" name="Text 5"/>
          <p:cNvSpPr/>
          <p:nvPr/>
        </p:nvSpPr>
        <p:spPr>
          <a:xfrm>
            <a:off x="965200" y="2694781"/>
            <a:ext cx="17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3A0"/>
                </a:solidFill>
                <a:latin typeface="IBM Plex Sans" pitchFamily="34" charset="0"/>
                <a:ea typeface="IBM Plex Sans" pitchFamily="34" charset="-122"/>
                <a:cs typeface="IBM Plex Sans" pitchFamily="34" charset="-120"/>
              </a:rPr>
              <a:t>NestJS · issues JWTs</a:t>
            </a:r>
            <a:endParaRPr lang="en-US" sz="1200" dirty="0"/>
          </a:p>
        </p:txBody>
      </p:sp>
      <p:sp>
        <p:nvSpPr>
          <p:cNvPr id="8" name="Shape 6"/>
          <p:cNvSpPr/>
          <p:nvPr/>
        </p:nvSpPr>
        <p:spPr>
          <a:xfrm>
            <a:off x="2944416" y="2291556"/>
            <a:ext cx="2007890" cy="778470"/>
          </a:xfrm>
          <a:prstGeom prst="roundRect">
            <a:avLst>
              <a:gd name="adj" fmla="val 9381"/>
            </a:avLst>
          </a:prstGeom>
          <a:solidFill>
            <a:srgbClr val="FCFBF8"/>
          </a:solidFill>
          <a:ln w="6350">
            <a:solidFill>
              <a:srgbClr val="E2E0D8"/>
            </a:solidFill>
            <a:prstDash val="solid"/>
          </a:ln>
        </p:spPr>
      </p:sp>
      <p:sp>
        <p:nvSpPr>
          <p:cNvPr id="9" name="Text 7"/>
          <p:cNvSpPr/>
          <p:nvPr/>
        </p:nvSpPr>
        <p:spPr>
          <a:xfrm>
            <a:off x="3099991" y="2447131"/>
            <a:ext cx="17476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12B"/>
                </a:solidFill>
                <a:latin typeface="IBM Plex Sans" pitchFamily="34" charset="0"/>
                <a:ea typeface="IBM Plex Sans" pitchFamily="34" charset="-122"/>
                <a:cs typeface="IBM Plex Sans" pitchFamily="34" charset="-120"/>
              </a:rPr>
              <a:t>accounts</a:t>
            </a:r>
            <a:endParaRPr lang="en-US" sz="1500" dirty="0"/>
          </a:p>
        </p:txBody>
      </p:sp>
      <p:sp>
        <p:nvSpPr>
          <p:cNvPr id="10" name="Text 8"/>
          <p:cNvSpPr/>
          <p:nvPr/>
        </p:nvSpPr>
        <p:spPr>
          <a:xfrm>
            <a:off x="3099991" y="2701131"/>
            <a:ext cx="17476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Spring Boot · cash</a:t>
            </a:r>
            <a:endParaRPr lang="en-US" sz="1200" dirty="0"/>
          </a:p>
        </p:txBody>
      </p:sp>
      <p:sp>
        <p:nvSpPr>
          <p:cNvPr id="11" name="Shape 9"/>
          <p:cNvSpPr/>
          <p:nvPr/>
        </p:nvSpPr>
        <p:spPr>
          <a:xfrm>
            <a:off x="5085655" y="2291556"/>
            <a:ext cx="2007890" cy="778470"/>
          </a:xfrm>
          <a:prstGeom prst="roundRect">
            <a:avLst>
              <a:gd name="adj" fmla="val 9381"/>
            </a:avLst>
          </a:prstGeom>
          <a:solidFill>
            <a:srgbClr val="FCFBF8"/>
          </a:solidFill>
          <a:ln w="6350">
            <a:solidFill>
              <a:srgbClr val="E2E0D8"/>
            </a:solidFill>
            <a:prstDash val="solid"/>
          </a:ln>
        </p:spPr>
      </p:sp>
      <p:sp>
        <p:nvSpPr>
          <p:cNvPr id="12" name="Text 10"/>
          <p:cNvSpPr/>
          <p:nvPr/>
        </p:nvSpPr>
        <p:spPr>
          <a:xfrm>
            <a:off x="5241230" y="2447131"/>
            <a:ext cx="17476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12B"/>
                </a:solidFill>
                <a:latin typeface="IBM Plex Sans" pitchFamily="34" charset="0"/>
                <a:ea typeface="IBM Plex Sans" pitchFamily="34" charset="-122"/>
                <a:cs typeface="IBM Plex Sans" pitchFamily="34" charset="-120"/>
              </a:rPr>
              <a:t>instruments</a:t>
            </a:r>
            <a:endParaRPr lang="en-US" sz="1500" dirty="0"/>
          </a:p>
        </p:txBody>
      </p:sp>
      <p:sp>
        <p:nvSpPr>
          <p:cNvPr id="13" name="Text 11"/>
          <p:cNvSpPr/>
          <p:nvPr/>
        </p:nvSpPr>
        <p:spPr>
          <a:xfrm>
            <a:off x="5241230" y="2701131"/>
            <a:ext cx="17476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Spring Boot · prices</a:t>
            </a:r>
            <a:endParaRPr lang="en-US" sz="1200" dirty="0"/>
          </a:p>
        </p:txBody>
      </p:sp>
      <p:sp>
        <p:nvSpPr>
          <p:cNvPr id="14" name="Shape 12"/>
          <p:cNvSpPr/>
          <p:nvPr/>
        </p:nvSpPr>
        <p:spPr>
          <a:xfrm>
            <a:off x="7226895" y="2291556"/>
            <a:ext cx="2007890" cy="778470"/>
          </a:xfrm>
          <a:prstGeom prst="roundRect">
            <a:avLst>
              <a:gd name="adj" fmla="val 9381"/>
            </a:avLst>
          </a:prstGeom>
          <a:solidFill>
            <a:srgbClr val="FCFBF8"/>
          </a:solidFill>
          <a:ln w="6350">
            <a:solidFill>
              <a:srgbClr val="E2E0D8"/>
            </a:solidFill>
            <a:prstDash val="solid"/>
          </a:ln>
        </p:spPr>
      </p:sp>
      <p:sp>
        <p:nvSpPr>
          <p:cNvPr id="15" name="Text 13"/>
          <p:cNvSpPr/>
          <p:nvPr/>
        </p:nvSpPr>
        <p:spPr>
          <a:xfrm>
            <a:off x="7382470" y="2447131"/>
            <a:ext cx="17476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12B"/>
                </a:solidFill>
                <a:latin typeface="IBM Plex Sans" pitchFamily="34" charset="0"/>
                <a:ea typeface="IBM Plex Sans" pitchFamily="34" charset="-122"/>
                <a:cs typeface="IBM Plex Sans" pitchFamily="34" charset="-120"/>
              </a:rPr>
              <a:t>orders</a:t>
            </a:r>
            <a:endParaRPr lang="en-US" sz="1500" dirty="0"/>
          </a:p>
        </p:txBody>
      </p:sp>
      <p:sp>
        <p:nvSpPr>
          <p:cNvPr id="16" name="Text 14"/>
          <p:cNvSpPr/>
          <p:nvPr/>
        </p:nvSpPr>
        <p:spPr>
          <a:xfrm>
            <a:off x="7382470" y="2701131"/>
            <a:ext cx="17476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Spring Boot · places</a:t>
            </a:r>
            <a:endParaRPr lang="en-US" sz="1200" dirty="0"/>
          </a:p>
        </p:txBody>
      </p:sp>
      <p:sp>
        <p:nvSpPr>
          <p:cNvPr id="17" name="Shape 15"/>
          <p:cNvSpPr/>
          <p:nvPr/>
        </p:nvSpPr>
        <p:spPr>
          <a:xfrm>
            <a:off x="9368135" y="2291556"/>
            <a:ext cx="2007890" cy="778470"/>
          </a:xfrm>
          <a:prstGeom prst="roundRect">
            <a:avLst>
              <a:gd name="adj" fmla="val 9381"/>
            </a:avLst>
          </a:prstGeom>
          <a:solidFill>
            <a:srgbClr val="FCFBF8"/>
          </a:solidFill>
          <a:ln w="6350">
            <a:solidFill>
              <a:srgbClr val="E2E0D8"/>
            </a:solidFill>
            <a:prstDash val="solid"/>
          </a:ln>
        </p:spPr>
      </p:sp>
      <p:sp>
        <p:nvSpPr>
          <p:cNvPr id="18" name="Text 16"/>
          <p:cNvSpPr/>
          <p:nvPr/>
        </p:nvSpPr>
        <p:spPr>
          <a:xfrm>
            <a:off x="9523710" y="2447131"/>
            <a:ext cx="17476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12B"/>
                </a:solidFill>
                <a:latin typeface="IBM Plex Sans" pitchFamily="34" charset="0"/>
                <a:ea typeface="IBM Plex Sans" pitchFamily="34" charset="-122"/>
                <a:cs typeface="IBM Plex Sans" pitchFamily="34" charset="-120"/>
              </a:rPr>
              <a:t>positions</a:t>
            </a:r>
            <a:endParaRPr lang="en-US" sz="1500" dirty="0"/>
          </a:p>
        </p:txBody>
      </p:sp>
      <p:sp>
        <p:nvSpPr>
          <p:cNvPr id="19" name="Text 17"/>
          <p:cNvSpPr/>
          <p:nvPr/>
        </p:nvSpPr>
        <p:spPr>
          <a:xfrm>
            <a:off x="9523710" y="2701131"/>
            <a:ext cx="17476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Spring Boot · holdings</a:t>
            </a:r>
            <a:endParaRPr lang="en-US" sz="1200" dirty="0"/>
          </a:p>
        </p:txBody>
      </p:sp>
      <p:sp>
        <p:nvSpPr>
          <p:cNvPr id="20" name="Shape 18"/>
          <p:cNvSpPr/>
          <p:nvPr/>
        </p:nvSpPr>
        <p:spPr>
          <a:xfrm>
            <a:off x="812800" y="3225602"/>
            <a:ext cx="10566400" cy="563860"/>
          </a:xfrm>
          <a:prstGeom prst="roundRect">
            <a:avLst>
              <a:gd name="adj" fmla="val 13514"/>
            </a:avLst>
          </a:prstGeom>
          <a:solidFill>
            <a:srgbClr val="1E7F55"/>
          </a:solidFill>
          <a:ln/>
        </p:spPr>
      </p:sp>
      <p:sp>
        <p:nvSpPr>
          <p:cNvPr id="21" name="Text 19"/>
          <p:cNvSpPr/>
          <p:nvPr/>
        </p:nvSpPr>
        <p:spPr>
          <a:xfrm>
            <a:off x="1016000" y="3378002"/>
            <a:ext cx="69830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4EE"/>
                </a:solidFill>
                <a:latin typeface="IBM Plex Sans" pitchFamily="34" charset="0"/>
                <a:ea typeface="IBM Plex Sans" pitchFamily="34" charset="-122"/>
                <a:cs typeface="IBM Plex Sans" pitchFamily="34" charset="-120"/>
              </a:rPr>
              <a:t>Kafka</a:t>
            </a:r>
            <a:endParaRPr lang="en-US" sz="1700" dirty="0"/>
          </a:p>
        </p:txBody>
      </p:sp>
      <p:sp>
        <p:nvSpPr>
          <p:cNvPr id="22" name="Text 20"/>
          <p:cNvSpPr/>
          <p:nvPr/>
        </p:nvSpPr>
        <p:spPr>
          <a:xfrm>
            <a:off x="4281329" y="3391991"/>
            <a:ext cx="6894671" cy="25648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F5F4EE"/>
                </a:solidFill>
                <a:latin typeface="JetBrains Mono" pitchFamily="49" charset="0"/>
                <a:ea typeface="JetBrains Mono" pitchFamily="49" charset="-122"/>
                <a:cs typeface="JetBrains Mono" pitchFamily="49" charset="-120"/>
              </a:rPr>
              <a:t>orders · trade-events · market-data · + dead-letter topics</a:t>
            </a:r>
            <a:endParaRPr lang="en-US" sz="1300" dirty="0"/>
          </a:p>
        </p:txBody>
      </p:sp>
      <p:sp>
        <p:nvSpPr>
          <p:cNvPr id="23" name="Shape 21"/>
          <p:cNvSpPr/>
          <p:nvPr/>
        </p:nvSpPr>
        <p:spPr>
          <a:xfrm>
            <a:off x="815975" y="3945037"/>
            <a:ext cx="3431084" cy="778470"/>
          </a:xfrm>
          <a:prstGeom prst="roundRect">
            <a:avLst>
              <a:gd name="adj" fmla="val 9381"/>
            </a:avLst>
          </a:prstGeom>
          <a:solidFill>
            <a:srgbClr val="FCFBF8"/>
          </a:solidFill>
          <a:ln w="6350">
            <a:solidFill>
              <a:srgbClr val="E2E0D8"/>
            </a:solidFill>
            <a:prstDash val="solid"/>
          </a:ln>
        </p:spPr>
      </p:sp>
      <p:sp>
        <p:nvSpPr>
          <p:cNvPr id="24" name="Text 22"/>
          <p:cNvSpPr/>
          <p:nvPr/>
        </p:nvSpPr>
        <p:spPr>
          <a:xfrm>
            <a:off x="971550" y="4100612"/>
            <a:ext cx="32135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12B"/>
                </a:solidFill>
                <a:latin typeface="IBM Plex Sans" pitchFamily="34" charset="0"/>
                <a:ea typeface="IBM Plex Sans" pitchFamily="34" charset="-122"/>
                <a:cs typeface="IBM Plex Sans" pitchFamily="34" charset="-120"/>
              </a:rPr>
              <a:t>trade-executor</a:t>
            </a:r>
            <a:endParaRPr lang="en-US" sz="1500" dirty="0"/>
          </a:p>
        </p:txBody>
      </p:sp>
      <p:sp>
        <p:nvSpPr>
          <p:cNvPr id="25" name="Text 23"/>
          <p:cNvSpPr/>
          <p:nvPr/>
        </p:nvSpPr>
        <p:spPr>
          <a:xfrm>
            <a:off x="971550" y="4354612"/>
            <a:ext cx="32135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Java · prices and settles orders</a:t>
            </a:r>
            <a:endParaRPr lang="en-US" sz="1200" dirty="0"/>
          </a:p>
        </p:txBody>
      </p:sp>
      <p:sp>
        <p:nvSpPr>
          <p:cNvPr id="26" name="Shape 24"/>
          <p:cNvSpPr/>
          <p:nvPr/>
        </p:nvSpPr>
        <p:spPr>
          <a:xfrm>
            <a:off x="4380409" y="3945037"/>
            <a:ext cx="3431183" cy="778470"/>
          </a:xfrm>
          <a:prstGeom prst="roundRect">
            <a:avLst>
              <a:gd name="adj" fmla="val 9381"/>
            </a:avLst>
          </a:prstGeom>
          <a:solidFill>
            <a:srgbClr val="FCFBF8"/>
          </a:solidFill>
          <a:ln w="6350">
            <a:solidFill>
              <a:srgbClr val="E2E0D8"/>
            </a:solidFill>
            <a:prstDash val="solid"/>
          </a:ln>
        </p:spPr>
      </p:sp>
      <p:sp>
        <p:nvSpPr>
          <p:cNvPr id="27" name="Text 25"/>
          <p:cNvSpPr/>
          <p:nvPr/>
        </p:nvSpPr>
        <p:spPr>
          <a:xfrm>
            <a:off x="4535984" y="4100612"/>
            <a:ext cx="32136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12B"/>
                </a:solidFill>
                <a:latin typeface="IBM Plex Sans" pitchFamily="34" charset="0"/>
                <a:ea typeface="IBM Plex Sans" pitchFamily="34" charset="-122"/>
                <a:cs typeface="IBM Plex Sans" pitchFamily="34" charset="-120"/>
              </a:rPr>
              <a:t>trade-analytics-service</a:t>
            </a:r>
            <a:endParaRPr lang="en-US" sz="1500" dirty="0"/>
          </a:p>
        </p:txBody>
      </p:sp>
      <p:sp>
        <p:nvSpPr>
          <p:cNvPr id="28" name="Text 26"/>
          <p:cNvSpPr/>
          <p:nvPr/>
        </p:nvSpPr>
        <p:spPr>
          <a:xfrm>
            <a:off x="4535984" y="4354612"/>
            <a:ext cx="32136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Python · ETL into a star schema</a:t>
            </a:r>
            <a:endParaRPr lang="en-US" sz="1200" dirty="0"/>
          </a:p>
        </p:txBody>
      </p:sp>
      <p:sp>
        <p:nvSpPr>
          <p:cNvPr id="29" name="Shape 27"/>
          <p:cNvSpPr/>
          <p:nvPr/>
        </p:nvSpPr>
        <p:spPr>
          <a:xfrm>
            <a:off x="7944941" y="3945037"/>
            <a:ext cx="3431084" cy="778470"/>
          </a:xfrm>
          <a:prstGeom prst="roundRect">
            <a:avLst>
              <a:gd name="adj" fmla="val 9381"/>
            </a:avLst>
          </a:prstGeom>
          <a:solidFill>
            <a:srgbClr val="FCFBF8"/>
          </a:solidFill>
          <a:ln w="6350">
            <a:solidFill>
              <a:srgbClr val="E2E0D8"/>
            </a:solidFill>
            <a:prstDash val="solid"/>
          </a:ln>
        </p:spPr>
      </p:sp>
      <p:sp>
        <p:nvSpPr>
          <p:cNvPr id="30" name="Text 28"/>
          <p:cNvSpPr/>
          <p:nvPr/>
        </p:nvSpPr>
        <p:spPr>
          <a:xfrm>
            <a:off x="8100516" y="4100612"/>
            <a:ext cx="32135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12B"/>
                </a:solidFill>
                <a:latin typeface="IBM Plex Sans" pitchFamily="34" charset="0"/>
                <a:ea typeface="IBM Plex Sans" pitchFamily="34" charset="-122"/>
                <a:cs typeface="IBM Plex Sans" pitchFamily="34" charset="-120"/>
              </a:rPr>
              <a:t>Dashboard</a:t>
            </a:r>
            <a:endParaRPr lang="en-US" sz="1500" dirty="0"/>
          </a:p>
        </p:txBody>
      </p:sp>
      <p:sp>
        <p:nvSpPr>
          <p:cNvPr id="31" name="Text 29"/>
          <p:cNvSpPr/>
          <p:nvPr/>
        </p:nvSpPr>
        <p:spPr>
          <a:xfrm>
            <a:off x="8100516" y="4354612"/>
            <a:ext cx="32135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Python Dash · live and batch views</a:t>
            </a:r>
            <a:endParaRPr lang="en-US" sz="1200" dirty="0"/>
          </a:p>
        </p:txBody>
      </p:sp>
      <p:sp>
        <p:nvSpPr>
          <p:cNvPr id="32" name="Text 30"/>
          <p:cNvSpPr/>
          <p:nvPr/>
        </p:nvSpPr>
        <p:spPr>
          <a:xfrm>
            <a:off x="812800" y="4879082"/>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6 Postgres databases, one per service · everything runs in Docker Compose · kafka-ui and SonarQube alongside</a:t>
            </a:r>
            <a:endParaRPr lang="en-US" sz="1300" dirty="0"/>
          </a:p>
        </p:txBody>
      </p:sp>
      <p:sp>
        <p:nvSpPr>
          <p:cNvPr id="33"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JetBrains Mono" pitchFamily="49" charset="0"/>
                <a:ea typeface="JetBrains Mono" pitchFamily="49" charset="-122"/>
                <a:cs typeface="JetBrains Mono" pitchFamily="49" charset="-120"/>
              </a:rPr>
              <a:t>The UnderFrogs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E7F55"/>
                </a:solidFill>
                <a:latin typeface="JetBrains Mono" pitchFamily="49" charset="0"/>
                <a:ea typeface="JetBrains Mono" pitchFamily="49" charset="-122"/>
                <a:cs typeface="JetBrains Mono" pitchFamily="49" charset="-120"/>
              </a:rPr>
              <a:t>02 · WHAT WE BUILT</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12B"/>
                </a:solidFill>
                <a:latin typeface="IBM Plex Sans" pitchFamily="34" charset="0"/>
                <a:ea typeface="IBM Plex Sans" pitchFamily="34" charset="-122"/>
                <a:cs typeface="IBM Plex Sans" pitchFamily="34" charset="-120"/>
              </a:rPr>
              <a:t>Data model: one database per service</a:t>
            </a:r>
            <a:endParaRPr lang="en-US" sz="3200" dirty="0"/>
          </a:p>
        </p:txBody>
      </p:sp>
      <p:sp>
        <p:nvSpPr>
          <p:cNvPr id="4" name="Shape 2"/>
          <p:cNvSpPr/>
          <p:nvPr/>
        </p:nvSpPr>
        <p:spPr>
          <a:xfrm>
            <a:off x="815975" y="1882676"/>
            <a:ext cx="6661150" cy="3130550"/>
          </a:xfrm>
          <a:prstGeom prst="roundRect">
            <a:avLst>
              <a:gd name="adj" fmla="val 3144"/>
            </a:avLst>
          </a:prstGeom>
          <a:solidFill>
            <a:srgbClr val="FCFBF8"/>
          </a:solidFill>
          <a:ln w="6350">
            <a:solidFill>
              <a:srgbClr val="E2E0D8"/>
            </a:solidFill>
            <a:prstDash val="solid"/>
          </a:ln>
        </p:spPr>
      </p:sp>
      <p:pic>
        <p:nvPicPr>
          <p:cNvPr id="5" name="Image 0" descr="Entity relationship diagram of the instruments, orders, accounts and positions databases">    </p:cNvPr>
          <p:cNvPicPr>
            <a:picLocks noChangeAspect="1"/>
          </p:cNvPicPr>
          <p:nvPr/>
        </p:nvPicPr>
        <p:blipFill>
          <a:blip r:embed="rId1"/>
          <a:srcRect l="0" r="0" t="-29" b="-29"/>
          <a:stretch/>
        </p:blipFill>
        <p:spPr>
          <a:xfrm>
            <a:off x="971550" y="2038251"/>
            <a:ext cx="6350000" cy="2819400"/>
          </a:xfrm>
          <a:prstGeom prst="rect">
            <a:avLst/>
          </a:prstGeom>
        </p:spPr>
      </p:pic>
      <p:sp>
        <p:nvSpPr>
          <p:cNvPr id="6" name="Text 3"/>
          <p:cNvSpPr/>
          <p:nvPr/>
        </p:nvSpPr>
        <p:spPr>
          <a:xfrm>
            <a:off x="812800" y="5118001"/>
            <a:ext cx="68675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ERD: instruments, orders, accounts and positions databases</a:t>
            </a:r>
            <a:endParaRPr lang="en-US" sz="1200" dirty="0"/>
          </a:p>
        </p:txBody>
      </p:sp>
      <p:sp>
        <p:nvSpPr>
          <p:cNvPr id="7" name="Shape 4"/>
          <p:cNvSpPr/>
          <p:nvPr/>
        </p:nvSpPr>
        <p:spPr>
          <a:xfrm>
            <a:off x="7797800" y="1879501"/>
            <a:ext cx="0" cy="766961"/>
          </a:xfrm>
          <a:prstGeom prst="line">
            <a:avLst/>
          </a:prstGeom>
          <a:noFill/>
          <a:ln w="25400">
            <a:solidFill>
              <a:srgbClr val="1E7F55"/>
            </a:solidFill>
            <a:prstDash val="solid"/>
          </a:ln>
        </p:spPr>
      </p:sp>
      <p:sp>
        <p:nvSpPr>
          <p:cNvPr id="8" name="Text 5"/>
          <p:cNvSpPr/>
          <p:nvPr/>
        </p:nvSpPr>
        <p:spPr>
          <a:xfrm>
            <a:off x="7937500" y="1904901"/>
            <a:ext cx="35449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12B"/>
                </a:solidFill>
                <a:latin typeface="IBM Plex Sans" pitchFamily="34" charset="0"/>
                <a:ea typeface="IBM Plex Sans" pitchFamily="34" charset="-122"/>
                <a:cs typeface="IBM Plex Sans" pitchFamily="34" charset="-120"/>
              </a:rPr>
              <a:t>6 Postgres databases</a:t>
            </a:r>
            <a:endParaRPr lang="en-US" sz="1500" dirty="0"/>
          </a:p>
        </p:txBody>
      </p:sp>
      <p:sp>
        <p:nvSpPr>
          <p:cNvPr id="9" name="Text 6"/>
          <p:cNvSpPr/>
          <p:nvPr/>
        </p:nvSpPr>
        <p:spPr>
          <a:xfrm>
            <a:off x="7937500" y="2158901"/>
            <a:ext cx="35449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Each service owns its data. No cross-service joins.</a:t>
            </a:r>
            <a:endParaRPr lang="en-US" sz="1300" dirty="0"/>
          </a:p>
        </p:txBody>
      </p:sp>
      <p:sp>
        <p:nvSpPr>
          <p:cNvPr id="10" name="Shape 7"/>
          <p:cNvSpPr/>
          <p:nvPr/>
        </p:nvSpPr>
        <p:spPr>
          <a:xfrm>
            <a:off x="7797800" y="2798862"/>
            <a:ext cx="0" cy="766961"/>
          </a:xfrm>
          <a:prstGeom prst="line">
            <a:avLst/>
          </a:prstGeom>
          <a:noFill/>
          <a:ln w="25400">
            <a:solidFill>
              <a:srgbClr val="1E7F55"/>
            </a:solidFill>
            <a:prstDash val="solid"/>
          </a:ln>
        </p:spPr>
      </p:sp>
      <p:sp>
        <p:nvSpPr>
          <p:cNvPr id="11" name="Text 8"/>
          <p:cNvSpPr/>
          <p:nvPr/>
        </p:nvSpPr>
        <p:spPr>
          <a:xfrm>
            <a:off x="7937500" y="2824262"/>
            <a:ext cx="35449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12B"/>
                </a:solidFill>
                <a:latin typeface="IBM Plex Sans" pitchFamily="34" charset="0"/>
                <a:ea typeface="IBM Plex Sans" pitchFamily="34" charset="-122"/>
                <a:cs typeface="IBM Plex Sans" pitchFamily="34" charset="-120"/>
              </a:rPr>
              <a:t>Raw → clean</a:t>
            </a:r>
            <a:endParaRPr lang="en-US" sz="1500" dirty="0"/>
          </a:p>
        </p:txBody>
      </p:sp>
      <p:sp>
        <p:nvSpPr>
          <p:cNvPr id="12" name="Text 9"/>
          <p:cNvSpPr/>
          <p:nvPr/>
        </p:nvSpPr>
        <p:spPr>
          <a:xfrm>
            <a:off x="7937500" y="3078262"/>
            <a:ext cx="35449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Instrument data lands raw, then is validated into clean tables.</a:t>
            </a:r>
            <a:endParaRPr lang="en-US" sz="1300" dirty="0"/>
          </a:p>
        </p:txBody>
      </p:sp>
      <p:sp>
        <p:nvSpPr>
          <p:cNvPr id="13" name="Shape 10"/>
          <p:cNvSpPr/>
          <p:nvPr/>
        </p:nvSpPr>
        <p:spPr>
          <a:xfrm>
            <a:off x="7797800" y="3718223"/>
            <a:ext cx="0" cy="766961"/>
          </a:xfrm>
          <a:prstGeom prst="line">
            <a:avLst/>
          </a:prstGeom>
          <a:noFill/>
          <a:ln w="25400">
            <a:solidFill>
              <a:srgbClr val="1E7F55"/>
            </a:solidFill>
            <a:prstDash val="solid"/>
          </a:ln>
        </p:spPr>
      </p:sp>
      <p:sp>
        <p:nvSpPr>
          <p:cNvPr id="14" name="Text 11"/>
          <p:cNvSpPr/>
          <p:nvPr/>
        </p:nvSpPr>
        <p:spPr>
          <a:xfrm>
            <a:off x="7937500" y="3743623"/>
            <a:ext cx="35449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12B"/>
                </a:solidFill>
                <a:latin typeface="IBM Plex Sans" pitchFamily="34" charset="0"/>
                <a:ea typeface="IBM Plex Sans" pitchFamily="34" charset="-122"/>
                <a:cs typeface="IBM Plex Sans" pitchFamily="34" charset="-120"/>
              </a:rPr>
              <a:t>Safe concurrent writes</a:t>
            </a:r>
            <a:endParaRPr lang="en-US" sz="1500" dirty="0"/>
          </a:p>
        </p:txBody>
      </p:sp>
      <p:sp>
        <p:nvSpPr>
          <p:cNvPr id="15" name="Text 12"/>
          <p:cNvSpPr/>
          <p:nvPr/>
        </p:nvSpPr>
        <p:spPr>
          <a:xfrm>
            <a:off x="7937500" y="3997623"/>
            <a:ext cx="35449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Version columns for optimistic locking. Unique idempotency keys.</a:t>
            </a:r>
            <a:endParaRPr lang="en-US" sz="1300" dirty="0"/>
          </a:p>
        </p:txBody>
      </p:sp>
      <p:sp>
        <p:nvSpPr>
          <p:cNvPr id="16" name="Shape 13"/>
          <p:cNvSpPr/>
          <p:nvPr/>
        </p:nvSpPr>
        <p:spPr>
          <a:xfrm>
            <a:off x="7797800" y="4637584"/>
            <a:ext cx="0" cy="766961"/>
          </a:xfrm>
          <a:prstGeom prst="line">
            <a:avLst/>
          </a:prstGeom>
          <a:noFill/>
          <a:ln w="25400">
            <a:solidFill>
              <a:srgbClr val="1E7F55"/>
            </a:solidFill>
            <a:prstDash val="solid"/>
          </a:ln>
        </p:spPr>
      </p:sp>
      <p:sp>
        <p:nvSpPr>
          <p:cNvPr id="17" name="Text 14"/>
          <p:cNvSpPr/>
          <p:nvPr/>
        </p:nvSpPr>
        <p:spPr>
          <a:xfrm>
            <a:off x="7937500" y="4662984"/>
            <a:ext cx="35449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12B"/>
                </a:solidFill>
                <a:latin typeface="IBM Plex Sans" pitchFamily="34" charset="0"/>
                <a:ea typeface="IBM Plex Sans" pitchFamily="34" charset="-122"/>
                <a:cs typeface="IBM Plex Sans" pitchFamily="34" charset="-120"/>
              </a:rPr>
              <a:t>Ledgers for audit</a:t>
            </a:r>
            <a:endParaRPr lang="en-US" sz="1500" dirty="0"/>
          </a:p>
        </p:txBody>
      </p:sp>
      <p:sp>
        <p:nvSpPr>
          <p:cNvPr id="18" name="Text 15"/>
          <p:cNvSpPr/>
          <p:nvPr/>
        </p:nvSpPr>
        <p:spPr>
          <a:xfrm>
            <a:off x="7937500" y="4916984"/>
            <a:ext cx="354495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cash_movements and position_movements record every change.</a:t>
            </a:r>
            <a:endParaRPr lang="en-US" sz="13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JetBrains Mono" pitchFamily="49" charset="0"/>
                <a:ea typeface="JetBrains Mono" pitchFamily="49" charset="-122"/>
                <a:cs typeface="JetBrains Mono" pitchFamily="49" charset="-120"/>
              </a:rPr>
              <a:t>The UnderFrogs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E7F55"/>
                </a:solidFill>
                <a:latin typeface="JetBrains Mono" pitchFamily="49" charset="0"/>
                <a:ea typeface="JetBrains Mono" pitchFamily="49" charset="-122"/>
                <a:cs typeface="JetBrains Mono" pitchFamily="49" charset="-120"/>
              </a:rPr>
              <a:t>02 · WHAT WE BUILT</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12B"/>
                </a:solidFill>
                <a:latin typeface="IBM Plex Sans" pitchFamily="34" charset="0"/>
                <a:ea typeface="IBM Plex Sans" pitchFamily="34" charset="-122"/>
                <a:cs typeface="IBM Plex Sans" pitchFamily="34" charset="-120"/>
              </a:rPr>
              <a:t>Live and batch: two lanes for data</a:t>
            </a:r>
            <a:endParaRPr lang="en-US" sz="3200" dirty="0"/>
          </a:p>
        </p:txBody>
      </p:sp>
      <p:sp>
        <p:nvSpPr>
          <p:cNvPr id="4" name="Shape 2"/>
          <p:cNvSpPr/>
          <p:nvPr/>
        </p:nvSpPr>
        <p:spPr>
          <a:xfrm>
            <a:off x="812800" y="1879501"/>
            <a:ext cx="10566400" cy="2720777"/>
          </a:xfrm>
          <a:prstGeom prst="roundRect">
            <a:avLst>
              <a:gd name="adj" fmla="val 3734"/>
            </a:avLst>
          </a:prstGeom>
          <a:solidFill>
            <a:srgbClr val="FCFBF8"/>
          </a:solidFill>
          <a:ln/>
        </p:spPr>
      </p:sp>
      <p:sp>
        <p:nvSpPr>
          <p:cNvPr id="5" name="Shape 3"/>
          <p:cNvSpPr/>
          <p:nvPr/>
        </p:nvSpPr>
        <p:spPr>
          <a:xfrm>
            <a:off x="812800" y="1879501"/>
            <a:ext cx="10566400" cy="2720777"/>
          </a:xfrm>
          <a:custGeom>
            <a:avLst/>
            <a:gdLst/>
            <a:ahLst/>
            <a:cxnLst/>
            <a:rect l="l" t="t" r="r" b="b"/>
            <a:pathLst>
              <a:path w="10566400" h="2720777">
                <a:moveTo>
                  <a:pt x="10464800" y="0"/>
                </a:moveTo>
                <a:lnTo>
                  <a:pt x="10464800" y="0"/>
                </a:lnTo>
                <a:arcTo hR="101600" wR="101600" stAng="16200000" swAng="5400000"/>
                <a:lnTo>
                  <a:pt x="10566400" y="2619177"/>
                </a:lnTo>
                <a:arcTo hR="101600" wR="101600" stAng="0" swAng="5400000"/>
                <a:lnTo>
                  <a:pt x="101600" y="2720777"/>
                </a:lnTo>
                <a:arcTo hR="101600" wR="101600" stAng="5400000" swAng="5400000"/>
                <a:lnTo>
                  <a:pt x="0" y="2619177"/>
                </a:lnTo>
                <a:arcTo hR="95250" wR="101600" stAng="10800000" swAng="-5400000"/>
                <a:lnTo>
                  <a:pt x="10464800" y="2714427"/>
                </a:lnTo>
                <a:arcTo hR="95250" wR="95250" stAng="5400000" swAng="-5400000"/>
                <a:lnTo>
                  <a:pt x="10560050" y="101600"/>
                </a:lnTo>
                <a:arcTo hR="101600" wR="95250" stAng="0" swAng="-5400000"/>
                <a:close/>
              </a:path>
            </a:pathLst>
          </a:custGeom>
          <a:solidFill>
            <a:srgbClr val="E2E0D8"/>
          </a:solidFill>
          <a:ln/>
        </p:spPr>
      </p:sp>
      <p:sp>
        <p:nvSpPr>
          <p:cNvPr id="6" name="Shape 4"/>
          <p:cNvSpPr/>
          <p:nvPr/>
        </p:nvSpPr>
        <p:spPr>
          <a:xfrm>
            <a:off x="812800" y="1879501"/>
            <a:ext cx="10566400" cy="2720777"/>
          </a:xfrm>
          <a:custGeom>
            <a:avLst/>
            <a:gdLst/>
            <a:ahLst/>
            <a:cxnLst/>
            <a:rect l="l" t="t" r="r" b="b"/>
            <a:pathLst>
              <a:path w="10566400" h="2720777">
                <a:moveTo>
                  <a:pt x="101600" y="2720777"/>
                </a:moveTo>
                <a:lnTo>
                  <a:pt x="101600" y="2720777"/>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619177"/>
                </a:lnTo>
                <a:arcTo hR="101600" wR="88900" stAng="10800000" swAng="-5400000"/>
                <a:close/>
              </a:path>
            </a:pathLst>
          </a:custGeom>
          <a:solidFill>
            <a:srgbClr val="141413">
              <a:alpha val="22000"/>
            </a:srgbClr>
          </a:solidFill>
          <a:ln/>
        </p:spPr>
      </p:sp>
      <p:sp>
        <p:nvSpPr>
          <p:cNvPr id="7" name="Shape 5"/>
          <p:cNvSpPr/>
          <p:nvPr/>
        </p:nvSpPr>
        <p:spPr>
          <a:xfrm>
            <a:off x="825500" y="1892201"/>
            <a:ext cx="10547350" cy="385961"/>
          </a:xfrm>
          <a:custGeom>
            <a:avLst/>
            <a:gdLst/>
            <a:ahLst/>
            <a:cxnLst/>
            <a:rect l="l" t="t" r="r" b="b"/>
            <a:pathLst>
              <a:path w="10547350" h="385961">
                <a:moveTo>
                  <a:pt x="0" y="88900"/>
                </a:moveTo>
                <a:arcTo hR="88900" wR="88900" stAng="10800000" swAng="5400000"/>
                <a:lnTo>
                  <a:pt x="10452100" y="0"/>
                </a:lnTo>
                <a:arcTo hR="95250" wR="95250" stAng="16200000" swAng="5400000"/>
                <a:lnTo>
                  <a:pt x="10547350" y="385961"/>
                </a:lnTo>
                <a:lnTo>
                  <a:pt x="0" y="385961"/>
                </a:lnTo>
                <a:close/>
              </a:path>
            </a:pathLst>
          </a:custGeom>
          <a:solidFill>
            <a:srgbClr val="E9E9E6"/>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47350" cy="2701727"/>
        </p:xfrm>
        <a:graphic>
          <a:graphicData uri="http://schemas.openxmlformats.org/drawingml/2006/table">
            <a:tbl>
              <a:tblPr/>
              <a:tblGrid>
                <a:gridCol w="2109470"/>
                <a:gridCol w="4218940"/>
                <a:gridCol w="4218940"/>
              </a:tblGrid>
              <a:tr h="385961">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BABAB8"/>
                      </a:solidFill>
                      <a:prstDash val="solid"/>
                      <a:round/>
                      <a:headEnd type="none" w="med" len="med"/>
                      <a:tailEnd type="none" w="med" len="med"/>
                    </a:lnR>
                    <a:lnT w="0" cap="flat" cmpd="sng" algn="ctr">
                      <a:noFill/>
                    </a:lnT>
                    <a:lnB w="12700" cap="flat" cmpd="sng" algn="ctr">
                      <a:solidFill>
                        <a:srgbClr val="BABAB8"/>
                      </a:solidFill>
                      <a:prstDash val="solid"/>
                      <a:round/>
                      <a:headEnd type="none" w="med" len="med"/>
                      <a:tailEnd type="none" w="med" len="med"/>
                    </a:lnB>
                  </a:tcPr>
                </a:tc>
                <a:tc>
                  <a:txBody>
                    <a:bodyPr/>
                    <a:lstStyle/>
                    <a:p>
                      <a:pPr indent="0" marL="0">
                        <a:lnSpc>
                          <a:spcPts val="1960"/>
                        </a:lnSpc>
                        <a:buNone/>
                      </a:pPr>
                      <a:r>
                        <a:rPr lang="en-US" sz="1400" b="1" dirty="0">
                          <a:solidFill>
                            <a:srgbClr val="1E7F55"/>
                          </a:solidFill>
                          <a:latin typeface="IBM Plex Sans" pitchFamily="34" charset="0"/>
                          <a:ea typeface="IBM Plex Sans" pitchFamily="34" charset="-122"/>
                          <a:cs typeface="IBM Plex Sans" pitchFamily="34" charset="-120"/>
                        </a:rPr>
                        <a:t>● Live (streaming)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0" cap="flat" cmpd="sng" algn="ctr">
                      <a:noFill/>
                    </a:lnT>
                    <a:lnB w="12700" cap="flat" cmpd="sng" algn="ctr">
                      <a:solidFill>
                        <a:srgbClr val="BABAB8"/>
                      </a:solidFill>
                      <a:prstDash val="solid"/>
                      <a:round/>
                      <a:headEnd type="none" w="med" len="med"/>
                      <a:tailEnd type="none" w="med" len="med"/>
                    </a:lnB>
                  </a:tcPr>
                </a:tc>
                <a:tc>
                  <a:txBody>
                    <a:bodyPr/>
                    <a:lstStyle/>
                    <a:p>
                      <a:pPr indent="0" marL="0">
                        <a:lnSpc>
                          <a:spcPts val="1960"/>
                        </a:lnSpc>
                        <a:buNone/>
                      </a:pPr>
                      <a:r>
                        <a:rPr lang="en-US" sz="1400" b="1" dirty="0">
                          <a:solidFill>
                            <a:srgbClr val="A85215"/>
                          </a:solidFill>
                          <a:latin typeface="IBM Plex Sans" pitchFamily="34" charset="0"/>
                          <a:ea typeface="IBM Plex Sans" pitchFamily="34" charset="-122"/>
                          <a:cs typeface="IBM Plex Sans" pitchFamily="34" charset="-120"/>
                        </a:rPr>
                        <a:t>■ Batch (ETL)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0" cap="flat" cmpd="sng" algn="ctr">
                      <a:noFill/>
                    </a:lnT>
                    <a:lnB w="12700" cap="flat" cmpd="sng" algn="ctr">
                      <a:solidFill>
                        <a:srgbClr val="BABA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6B7680"/>
                          </a:solidFill>
                          <a:latin typeface="IBM Plex Sans" pitchFamily="34" charset="0"/>
                          <a:ea typeface="IBM Plex Sans" pitchFamily="34" charset="-122"/>
                          <a:cs typeface="IBM Plex Sans" pitchFamily="34" charset="-120"/>
                        </a:rPr>
                        <a:t>Source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Alpaca quotes, order events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Order databases, yfinance history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6B7680"/>
                          </a:solidFill>
                          <a:latin typeface="IBM Plex Sans" pitchFamily="34" charset="0"/>
                          <a:ea typeface="IBM Plex Sans" pitchFamily="34" charset="-122"/>
                          <a:cs typeface="IBM Plex Sans" pitchFamily="34" charset="-120"/>
                        </a:rPr>
                        <a:t>Moves via</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Kafka: market-data, orders, trade-events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Python ETL jobs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6B7680"/>
                          </a:solidFill>
                          <a:latin typeface="IBM Plex Sans" pitchFamily="34" charset="0"/>
                          <a:ea typeface="IBM Plex Sans" pitchFamily="34" charset="-122"/>
                          <a:cs typeface="IBM Plex Sans" pitchFamily="34" charset="-120"/>
                        </a:rPr>
                        <a:t>How often</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Within seconds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Every 5 minutes, incremental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6B7680"/>
                          </a:solidFill>
                          <a:latin typeface="IBM Plex Sans" pitchFamily="34" charset="0"/>
                          <a:ea typeface="IBM Plex Sans" pitchFamily="34" charset="-122"/>
                          <a:cs typeface="IBM Plex Sans" pitchFamily="34" charset="-120"/>
                        </a:rPr>
                        <a:t>Lands in</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Executor, dashboard Live tab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Star schema: fact_trades + 3 dimensions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6B7680"/>
                          </a:solidFill>
                          <a:latin typeface="IBM Plex Sans" pitchFamily="34" charset="0"/>
                          <a:ea typeface="IBM Plex Sans" pitchFamily="34" charset="-122"/>
                          <a:cs typeface="IBM Plex Sans" pitchFamily="34" charset="-120"/>
                        </a:rPr>
                        <a:t>Safety net</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Dead-letter topics, retries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Watermark, dead-letter table, retries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6B7680"/>
                          </a:solidFill>
                          <a:latin typeface="IBM Plex Sans" pitchFamily="34" charset="0"/>
                          <a:ea typeface="IBM Plex Sans" pitchFamily="34" charset="-122"/>
                          <a:cs typeface="IBM Plex Sans" pitchFamily="34" charset="-120"/>
                        </a:rPr>
                        <a:t>Answers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"What's happening right now?"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12212B"/>
                          </a:solidFill>
                          <a:latin typeface="IBM Plex Sans" pitchFamily="34" charset="0"/>
                          <a:ea typeface="IBM Plex Sans" pitchFamily="34" charset="-122"/>
                          <a:cs typeface="IBM Plex Sans" pitchFamily="34" charset="-120"/>
                        </a:rPr>
                        <a:t>"What's the trend?"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bl>
          </a:graphicData>
        </a:graphic>
      </p:graphicFrame>
      <p:sp>
        <p:nvSpPr>
          <p:cNvPr id="9" name="Text 6"/>
          <p:cNvSpPr/>
          <p:nvPr/>
        </p:nvSpPr>
        <p:spPr>
          <a:xfrm>
            <a:off x="812800" y="4905077"/>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12B"/>
                </a:solidFill>
                <a:latin typeface="IBM Plex Sans" pitchFamily="34" charset="0"/>
                <a:ea typeface="IBM Plex Sans" pitchFamily="34" charset="-122"/>
                <a:cs typeface="IBM Plex Sans" pitchFamily="34" charset="-120"/>
              </a:rPr>
              <a:t>Live for operations, batch for reporting, and analytics never puts load on the trading databases.</a:t>
            </a:r>
            <a:endParaRPr lang="en-US" sz="16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JetBrains Mono" pitchFamily="49" charset="0"/>
                <a:ea typeface="JetBrains Mono" pitchFamily="49" charset="-122"/>
                <a:cs typeface="JetBrains Mono" pitchFamily="49" charset="-120"/>
              </a:rPr>
              <a:t>The UnderFrogs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E7F55"/>
                </a:solidFill>
                <a:latin typeface="JetBrains Mono" pitchFamily="49" charset="0"/>
                <a:ea typeface="JetBrains Mono" pitchFamily="49" charset="-122"/>
                <a:cs typeface="JetBrains Mono" pitchFamily="49" charset="-120"/>
              </a:rPr>
              <a:t>03 · HOW A TRADE WORKS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12B"/>
                </a:solidFill>
                <a:latin typeface="IBM Plex Sans" pitchFamily="34" charset="0"/>
                <a:ea typeface="IBM Plex Sans" pitchFamily="34" charset="-122"/>
                <a:cs typeface="IBM Plex Sans" pitchFamily="34" charset="-120"/>
              </a:rPr>
              <a:t>One order, start to finish, over Kafka</a:t>
            </a:r>
            <a:endParaRPr lang="en-US" sz="3200" dirty="0"/>
          </a:p>
        </p:txBody>
      </p:sp>
      <p:sp>
        <p:nvSpPr>
          <p:cNvPr id="4" name="Shape 2"/>
          <p:cNvSpPr/>
          <p:nvPr/>
        </p:nvSpPr>
        <p:spPr>
          <a:xfrm>
            <a:off x="815975" y="1831876"/>
            <a:ext cx="1781770" cy="2043013"/>
          </a:xfrm>
          <a:prstGeom prst="roundRect">
            <a:avLst>
              <a:gd name="adj" fmla="val 5524"/>
            </a:avLst>
          </a:prstGeom>
          <a:solidFill>
            <a:srgbClr val="FCFBF8"/>
          </a:solidFill>
          <a:ln w="6350">
            <a:solidFill>
              <a:srgbClr val="E2E0D8"/>
            </a:solidFill>
            <a:prstDash val="solid"/>
          </a:ln>
        </p:spPr>
      </p:sp>
      <p:sp>
        <p:nvSpPr>
          <p:cNvPr id="5" name="Text 3"/>
          <p:cNvSpPr/>
          <p:nvPr/>
        </p:nvSpPr>
        <p:spPr>
          <a:xfrm>
            <a:off x="971550" y="1987451"/>
            <a:ext cx="15214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7F55"/>
                </a:solidFill>
                <a:latin typeface="JetBrains Mono" pitchFamily="49" charset="0"/>
                <a:ea typeface="JetBrains Mono" pitchFamily="49" charset="-122"/>
                <a:cs typeface="JetBrains Mono" pitchFamily="49" charset="-120"/>
              </a:rPr>
              <a:t>1</a:t>
            </a:r>
            <a:endParaRPr lang="en-US" sz="1300" dirty="0"/>
          </a:p>
        </p:txBody>
      </p:sp>
      <p:sp>
        <p:nvSpPr>
          <p:cNvPr id="6" name="Text 4"/>
          <p:cNvSpPr/>
          <p:nvPr/>
        </p:nvSpPr>
        <p:spPr>
          <a:xfrm>
            <a:off x="971550" y="2269331"/>
            <a:ext cx="15214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12B"/>
                </a:solidFill>
                <a:latin typeface="IBM Plex Sans" pitchFamily="34" charset="0"/>
                <a:ea typeface="IBM Plex Sans" pitchFamily="34" charset="-122"/>
                <a:cs typeface="IBM Plex Sans" pitchFamily="34" charset="-120"/>
              </a:rPr>
              <a:t>Place</a:t>
            </a:r>
            <a:endParaRPr lang="en-US" sz="1600" dirty="0"/>
          </a:p>
        </p:txBody>
      </p:sp>
      <p:sp>
        <p:nvSpPr>
          <p:cNvPr id="7" name="Text 5"/>
          <p:cNvSpPr/>
          <p:nvPr/>
        </p:nvSpPr>
        <p:spPr>
          <a:xfrm>
            <a:off x="971550" y="2563912"/>
            <a:ext cx="152142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orders-service validates, saves the order as NEW, replies 201</a:t>
            </a:r>
            <a:endParaRPr lang="en-US" sz="1300" dirty="0"/>
          </a:p>
        </p:txBody>
      </p:sp>
      <p:pic>
        <p:nvPicPr>
          <p:cNvPr id="8" name="Image 0" descr="arrow-right">    </p:cNvPr>
          <p:cNvPicPr>
            <a:picLocks noChangeAspect="1"/>
          </p:cNvPicPr>
          <p:nvPr/>
        </p:nvPicPr>
        <p:blipFill>
          <a:blip r:embed="rId1"/>
          <a:srcRect l="0" r="0" t="0" b="0"/>
          <a:stretch/>
        </p:blipFill>
        <p:spPr>
          <a:xfrm>
            <a:off x="2677120" y="2777133"/>
            <a:ext cx="254000" cy="152400"/>
          </a:xfrm>
          <a:prstGeom prst="rect">
            <a:avLst/>
          </a:prstGeom>
        </p:spPr>
      </p:pic>
      <p:sp>
        <p:nvSpPr>
          <p:cNvPr id="9" name="Shape 6"/>
          <p:cNvSpPr/>
          <p:nvPr/>
        </p:nvSpPr>
        <p:spPr>
          <a:xfrm>
            <a:off x="3010495" y="1831876"/>
            <a:ext cx="1781870" cy="2043013"/>
          </a:xfrm>
          <a:prstGeom prst="roundRect">
            <a:avLst>
              <a:gd name="adj" fmla="val 5524"/>
            </a:avLst>
          </a:prstGeom>
          <a:solidFill>
            <a:srgbClr val="FCFBF8"/>
          </a:solidFill>
          <a:ln w="6350">
            <a:solidFill>
              <a:srgbClr val="E2E0D8"/>
            </a:solidFill>
            <a:prstDash val="solid"/>
          </a:ln>
        </p:spPr>
      </p:sp>
      <p:sp>
        <p:nvSpPr>
          <p:cNvPr id="10" name="Text 7"/>
          <p:cNvSpPr/>
          <p:nvPr/>
        </p:nvSpPr>
        <p:spPr>
          <a:xfrm>
            <a:off x="3166070" y="1987451"/>
            <a:ext cx="15215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7F55"/>
                </a:solidFill>
                <a:latin typeface="JetBrains Mono" pitchFamily="49" charset="0"/>
                <a:ea typeface="JetBrains Mono" pitchFamily="49" charset="-122"/>
                <a:cs typeface="JetBrains Mono" pitchFamily="49" charset="-120"/>
              </a:rPr>
              <a:t>2</a:t>
            </a:r>
            <a:endParaRPr lang="en-US" sz="1300" dirty="0"/>
          </a:p>
        </p:txBody>
      </p:sp>
      <p:sp>
        <p:nvSpPr>
          <p:cNvPr id="11" name="Text 8"/>
          <p:cNvSpPr/>
          <p:nvPr/>
        </p:nvSpPr>
        <p:spPr>
          <a:xfrm>
            <a:off x="3166070" y="2269331"/>
            <a:ext cx="15215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12B"/>
                </a:solidFill>
                <a:latin typeface="IBM Plex Sans" pitchFamily="34" charset="0"/>
                <a:ea typeface="IBM Plex Sans" pitchFamily="34" charset="-122"/>
                <a:cs typeface="IBM Plex Sans" pitchFamily="34" charset="-120"/>
              </a:rPr>
              <a:t>Publish</a:t>
            </a:r>
            <a:endParaRPr lang="en-US" sz="1600" dirty="0"/>
          </a:p>
        </p:txBody>
      </p:sp>
      <p:sp>
        <p:nvSpPr>
          <p:cNvPr id="12" name="Text 9"/>
          <p:cNvSpPr/>
          <p:nvPr/>
        </p:nvSpPr>
        <p:spPr>
          <a:xfrm>
            <a:off x="3166070" y="2563912"/>
            <a:ext cx="152152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ORDER_PLACED goes on the orders topic, keyed by account</a:t>
            </a:r>
            <a:endParaRPr lang="en-US" sz="1300" dirty="0"/>
          </a:p>
        </p:txBody>
      </p:sp>
      <p:pic>
        <p:nvPicPr>
          <p:cNvPr id="13" name="Image 1" descr="arrow-right">    </p:cNvPr>
          <p:cNvPicPr>
            <a:picLocks noChangeAspect="1"/>
          </p:cNvPicPr>
          <p:nvPr/>
        </p:nvPicPr>
        <p:blipFill>
          <a:blip r:embed="rId2"/>
          <a:srcRect l="0" r="0" t="0" b="0"/>
          <a:stretch/>
        </p:blipFill>
        <p:spPr>
          <a:xfrm>
            <a:off x="4871740" y="2777133"/>
            <a:ext cx="254000" cy="152400"/>
          </a:xfrm>
          <a:prstGeom prst="rect">
            <a:avLst/>
          </a:prstGeom>
        </p:spPr>
      </p:pic>
      <p:sp>
        <p:nvSpPr>
          <p:cNvPr id="14" name="Shape 10"/>
          <p:cNvSpPr/>
          <p:nvPr/>
        </p:nvSpPr>
        <p:spPr>
          <a:xfrm>
            <a:off x="5205115" y="1831876"/>
            <a:ext cx="1781770" cy="2043013"/>
          </a:xfrm>
          <a:prstGeom prst="roundRect">
            <a:avLst>
              <a:gd name="adj" fmla="val 5524"/>
            </a:avLst>
          </a:prstGeom>
          <a:solidFill>
            <a:srgbClr val="FCFBF8"/>
          </a:solidFill>
          <a:ln w="6350">
            <a:solidFill>
              <a:srgbClr val="E2E0D8"/>
            </a:solidFill>
            <a:prstDash val="solid"/>
          </a:ln>
        </p:spPr>
      </p:sp>
      <p:sp>
        <p:nvSpPr>
          <p:cNvPr id="15" name="Text 11"/>
          <p:cNvSpPr/>
          <p:nvPr/>
        </p:nvSpPr>
        <p:spPr>
          <a:xfrm>
            <a:off x="5360690" y="1987451"/>
            <a:ext cx="15214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7F55"/>
                </a:solidFill>
                <a:latin typeface="JetBrains Mono" pitchFamily="49" charset="0"/>
                <a:ea typeface="JetBrains Mono" pitchFamily="49" charset="-122"/>
                <a:cs typeface="JetBrains Mono" pitchFamily="49" charset="-120"/>
              </a:rPr>
              <a:t>3</a:t>
            </a:r>
            <a:endParaRPr lang="en-US" sz="1300" dirty="0"/>
          </a:p>
        </p:txBody>
      </p:sp>
      <p:sp>
        <p:nvSpPr>
          <p:cNvPr id="16" name="Text 12"/>
          <p:cNvSpPr/>
          <p:nvPr/>
        </p:nvSpPr>
        <p:spPr>
          <a:xfrm>
            <a:off x="5360690" y="2269331"/>
            <a:ext cx="15214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12B"/>
                </a:solidFill>
                <a:latin typeface="IBM Plex Sans" pitchFamily="34" charset="0"/>
                <a:ea typeface="IBM Plex Sans" pitchFamily="34" charset="-122"/>
                <a:cs typeface="IBM Plex Sans" pitchFamily="34" charset="-120"/>
              </a:rPr>
              <a:t>Price</a:t>
            </a:r>
            <a:endParaRPr lang="en-US" sz="1600" dirty="0"/>
          </a:p>
        </p:txBody>
      </p:sp>
      <p:sp>
        <p:nvSpPr>
          <p:cNvPr id="17" name="Text 13"/>
          <p:cNvSpPr/>
          <p:nvPr/>
        </p:nvSpPr>
        <p:spPr>
          <a:xfrm>
            <a:off x="5360690" y="2563912"/>
            <a:ext cx="152142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trade-executor gets a quote and decides: fill or reject</a:t>
            </a:r>
            <a:endParaRPr lang="en-US" sz="1300" dirty="0"/>
          </a:p>
        </p:txBody>
      </p:sp>
      <p:pic>
        <p:nvPicPr>
          <p:cNvPr id="18" name="Image 2" descr="arrow-right">    </p:cNvPr>
          <p:cNvPicPr>
            <a:picLocks noChangeAspect="1"/>
          </p:cNvPicPr>
          <p:nvPr/>
        </p:nvPicPr>
        <p:blipFill>
          <a:blip r:embed="rId3"/>
          <a:srcRect l="0" r="0" t="0" b="0"/>
          <a:stretch/>
        </p:blipFill>
        <p:spPr>
          <a:xfrm>
            <a:off x="7066260" y="2777133"/>
            <a:ext cx="254000" cy="152400"/>
          </a:xfrm>
          <a:prstGeom prst="rect">
            <a:avLst/>
          </a:prstGeom>
        </p:spPr>
      </p:pic>
      <p:sp>
        <p:nvSpPr>
          <p:cNvPr id="19" name="Shape 14"/>
          <p:cNvSpPr/>
          <p:nvPr/>
        </p:nvSpPr>
        <p:spPr>
          <a:xfrm>
            <a:off x="7399635" y="1831876"/>
            <a:ext cx="1781870" cy="2043013"/>
          </a:xfrm>
          <a:prstGeom prst="roundRect">
            <a:avLst>
              <a:gd name="adj" fmla="val 5524"/>
            </a:avLst>
          </a:prstGeom>
          <a:solidFill>
            <a:srgbClr val="12212B"/>
          </a:solidFill>
          <a:ln w="6350">
            <a:solidFill>
              <a:srgbClr val="12212B"/>
            </a:solidFill>
            <a:prstDash val="solid"/>
          </a:ln>
        </p:spPr>
      </p:sp>
      <p:sp>
        <p:nvSpPr>
          <p:cNvPr id="20" name="Text 15"/>
          <p:cNvSpPr/>
          <p:nvPr/>
        </p:nvSpPr>
        <p:spPr>
          <a:xfrm>
            <a:off x="7555210" y="1987451"/>
            <a:ext cx="15215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FD3A0"/>
                </a:solidFill>
                <a:latin typeface="JetBrains Mono" pitchFamily="49" charset="0"/>
                <a:ea typeface="JetBrains Mono" pitchFamily="49" charset="-122"/>
                <a:cs typeface="JetBrains Mono" pitchFamily="49" charset="-120"/>
              </a:rPr>
              <a:t>4</a:t>
            </a:r>
            <a:endParaRPr lang="en-US" sz="1300" dirty="0"/>
          </a:p>
        </p:txBody>
      </p:sp>
      <p:sp>
        <p:nvSpPr>
          <p:cNvPr id="21" name="Text 16"/>
          <p:cNvSpPr/>
          <p:nvPr/>
        </p:nvSpPr>
        <p:spPr>
          <a:xfrm>
            <a:off x="7555210" y="2269331"/>
            <a:ext cx="15215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4EE"/>
                </a:solidFill>
                <a:latin typeface="IBM Plex Sans" pitchFamily="34" charset="0"/>
                <a:ea typeface="IBM Plex Sans" pitchFamily="34" charset="-122"/>
                <a:cs typeface="IBM Plex Sans" pitchFamily="34" charset="-120"/>
              </a:rPr>
              <a:t>Settle</a:t>
            </a:r>
            <a:endParaRPr lang="en-US" sz="1600" dirty="0"/>
          </a:p>
        </p:txBody>
      </p:sp>
      <p:sp>
        <p:nvSpPr>
          <p:cNvPr id="22" name="Text 17"/>
          <p:cNvSpPr/>
          <p:nvPr/>
        </p:nvSpPr>
        <p:spPr>
          <a:xfrm>
            <a:off x="7555210" y="2563912"/>
            <a:ext cx="1521520" cy="11808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0D6"/>
                </a:solidFill>
                <a:latin typeface="IBM Plex Sans" pitchFamily="34" charset="0"/>
                <a:ea typeface="IBM Plex Sans" pitchFamily="34" charset="-122"/>
                <a:cs typeface="IBM Plex Sans" pitchFamily="34" charset="-120"/>
              </a:rPr>
              <a:t>Saga: debit cash, update position, mark FILLED. Reverses if a step fails</a:t>
            </a:r>
            <a:endParaRPr lang="en-US" sz="1300" dirty="0"/>
          </a:p>
        </p:txBody>
      </p:sp>
      <p:pic>
        <p:nvPicPr>
          <p:cNvPr id="23" name="Image 3" descr="arrow-right">    </p:cNvPr>
          <p:cNvPicPr>
            <a:picLocks noChangeAspect="1"/>
          </p:cNvPicPr>
          <p:nvPr/>
        </p:nvPicPr>
        <p:blipFill>
          <a:blip r:embed="rId4"/>
          <a:srcRect l="0" r="0" t="0" b="0"/>
          <a:stretch/>
        </p:blipFill>
        <p:spPr>
          <a:xfrm>
            <a:off x="9260880" y="2777133"/>
            <a:ext cx="254000" cy="152400"/>
          </a:xfrm>
          <a:prstGeom prst="rect">
            <a:avLst/>
          </a:prstGeom>
        </p:spPr>
      </p:pic>
      <p:sp>
        <p:nvSpPr>
          <p:cNvPr id="24" name="Shape 18"/>
          <p:cNvSpPr/>
          <p:nvPr/>
        </p:nvSpPr>
        <p:spPr>
          <a:xfrm>
            <a:off x="9594255" y="1831876"/>
            <a:ext cx="1781770" cy="2043013"/>
          </a:xfrm>
          <a:prstGeom prst="roundRect">
            <a:avLst>
              <a:gd name="adj" fmla="val 5524"/>
            </a:avLst>
          </a:prstGeom>
          <a:solidFill>
            <a:srgbClr val="FCFBF8"/>
          </a:solidFill>
          <a:ln w="6350">
            <a:solidFill>
              <a:srgbClr val="E2E0D8"/>
            </a:solidFill>
            <a:prstDash val="solid"/>
          </a:ln>
        </p:spPr>
      </p:sp>
      <p:sp>
        <p:nvSpPr>
          <p:cNvPr id="25" name="Text 19"/>
          <p:cNvSpPr/>
          <p:nvPr/>
        </p:nvSpPr>
        <p:spPr>
          <a:xfrm>
            <a:off x="9749830" y="1987451"/>
            <a:ext cx="15214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7F55"/>
                </a:solidFill>
                <a:latin typeface="JetBrains Mono" pitchFamily="49" charset="0"/>
                <a:ea typeface="JetBrains Mono" pitchFamily="49" charset="-122"/>
                <a:cs typeface="JetBrains Mono" pitchFamily="49" charset="-120"/>
              </a:rPr>
              <a:t>5</a:t>
            </a:r>
            <a:endParaRPr lang="en-US" sz="1300" dirty="0"/>
          </a:p>
        </p:txBody>
      </p:sp>
      <p:sp>
        <p:nvSpPr>
          <p:cNvPr id="26" name="Text 20"/>
          <p:cNvSpPr/>
          <p:nvPr/>
        </p:nvSpPr>
        <p:spPr>
          <a:xfrm>
            <a:off x="9749830" y="2269331"/>
            <a:ext cx="152142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12B"/>
                </a:solidFill>
                <a:latin typeface="IBM Plex Sans" pitchFamily="34" charset="0"/>
                <a:ea typeface="IBM Plex Sans" pitchFamily="34" charset="-122"/>
                <a:cs typeface="IBM Plex Sans" pitchFamily="34" charset="-120"/>
              </a:rPr>
              <a:t>Notify</a:t>
            </a:r>
            <a:endParaRPr lang="en-US" sz="1600" dirty="0"/>
          </a:p>
        </p:txBody>
      </p:sp>
      <p:sp>
        <p:nvSpPr>
          <p:cNvPr id="27" name="Text 21"/>
          <p:cNvSpPr/>
          <p:nvPr/>
        </p:nvSpPr>
        <p:spPr>
          <a:xfrm>
            <a:off x="9749830" y="2563912"/>
            <a:ext cx="152142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ORDER_FILLED on trade-events feeds the dashboard and analytics</a:t>
            </a:r>
            <a:endParaRPr lang="en-US" sz="1300" dirty="0"/>
          </a:p>
        </p:txBody>
      </p:sp>
      <p:sp>
        <p:nvSpPr>
          <p:cNvPr id="28" name="Text 22"/>
          <p:cNvSpPr/>
          <p:nvPr/>
        </p:nvSpPr>
        <p:spPr>
          <a:xfrm>
            <a:off x="812800" y="4132064"/>
            <a:ext cx="108833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12B"/>
                </a:solidFill>
                <a:latin typeface="IBM Plex Sans" pitchFamily="34" charset="0"/>
                <a:ea typeface="IBM Plex Sans" pitchFamily="34" charset="-122"/>
                <a:cs typeface="IBM Plex Sans" pitchFamily="34" charset="-120"/>
              </a:rPr>
              <a:t>What keeps it safe</a:t>
            </a:r>
            <a:endParaRPr lang="en-US" sz="1500" dirty="0"/>
          </a:p>
        </p:txBody>
      </p:sp>
      <p:sp>
        <p:nvSpPr>
          <p:cNvPr id="29" name="Text 23"/>
          <p:cNvSpPr/>
          <p:nvPr/>
        </p:nvSpPr>
        <p:spPr>
          <a:xfrm>
            <a:off x="812800" y="4462264"/>
            <a:ext cx="2565400" cy="896441"/>
          </a:xfrm>
          <a:prstGeom prst="roundRect">
            <a:avLst>
              <a:gd name="adj" fmla="val 8500"/>
            </a:avLst>
          </a:prstGeom>
          <a:solidFill>
            <a:srgbClr val="E4F2EA"/>
          </a:solidFill>
          <a:ln/>
        </p:spPr>
        <p:txBody>
          <a:bodyPr wrap="square" lIns="104682" tIns="79282" rIns="35340" bIns="53882" rtlCol="0" anchor="t">
            <a:normAutofit/>
          </a:bodyPr>
          <a:lstStyle/>
          <a:p>
            <a:pPr algn="l" indent="0" marL="0">
              <a:lnSpc>
                <a:spcPts val="1820"/>
              </a:lnSpc>
              <a:buNone/>
            </a:pPr>
            <a:r>
              <a:rPr lang="en-US" sz="1300" b="1" dirty="0">
                <a:solidFill>
                  <a:srgbClr val="12212B"/>
                </a:solidFill>
                <a:latin typeface="IBM Plex Sans" pitchFamily="34" charset="0"/>
                <a:ea typeface="IBM Plex Sans" pitchFamily="34" charset="-122"/>
                <a:cs typeface="IBM Plex Sans" pitchFamily="34" charset="-120"/>
              </a:rPr>
              <a:t>Idempotency keys:</a:t>
            </a:r>
            <a:r>
              <a:rPr lang="en-US" sz="1300" dirty="0">
                <a:solidFill>
                  <a:srgbClr val="12212B"/>
                </a:solidFill>
                <a:latin typeface="IBM Plex Sans" pitchFamily="34" charset="0"/>
                <a:ea typeface="IBM Plex Sans" pitchFamily="34" charset="-122"/>
                <a:cs typeface="IBM Plex Sans" pitchFamily="34" charset="-120"/>
              </a:rPr>
              <a:t> a resent order is never charged twice</a:t>
            </a:r>
            <a:endParaRPr lang="en-US" sz="1300" dirty="0"/>
          </a:p>
        </p:txBody>
      </p:sp>
      <p:sp>
        <p:nvSpPr>
          <p:cNvPr id="30" name="Text 24"/>
          <p:cNvSpPr/>
          <p:nvPr/>
        </p:nvSpPr>
        <p:spPr>
          <a:xfrm>
            <a:off x="3479800" y="4462264"/>
            <a:ext cx="2565400" cy="896441"/>
          </a:xfrm>
          <a:prstGeom prst="roundRect">
            <a:avLst>
              <a:gd name="adj" fmla="val 8500"/>
            </a:avLst>
          </a:prstGeom>
          <a:solidFill>
            <a:srgbClr val="E4F2EA"/>
          </a:solidFill>
          <a:ln/>
        </p:spPr>
        <p:txBody>
          <a:bodyPr wrap="square" lIns="104682" tIns="79282" rIns="35340" bIns="53882" rtlCol="0" anchor="t">
            <a:normAutofit/>
          </a:bodyPr>
          <a:lstStyle/>
          <a:p>
            <a:pPr algn="l" indent="0" marL="0">
              <a:lnSpc>
                <a:spcPts val="1820"/>
              </a:lnSpc>
              <a:buNone/>
            </a:pPr>
            <a:r>
              <a:rPr lang="en-US" sz="1300" b="1" dirty="0">
                <a:solidFill>
                  <a:srgbClr val="12212B"/>
                </a:solidFill>
                <a:latin typeface="IBM Plex Sans" pitchFamily="34" charset="0"/>
                <a:ea typeface="IBM Plex Sans" pitchFamily="34" charset="-122"/>
                <a:cs typeface="IBM Plex Sans" pitchFamily="34" charset="-120"/>
              </a:rPr>
              <a:t>Dead-letter topics:</a:t>
            </a:r>
            <a:r>
              <a:rPr lang="en-US" sz="1300" dirty="0">
                <a:solidFill>
                  <a:srgbClr val="12212B"/>
                </a:solidFill>
                <a:latin typeface="IBM Plex Sans" pitchFamily="34" charset="0"/>
                <a:ea typeface="IBM Plex Sans" pitchFamily="34" charset="-122"/>
                <a:cs typeface="IBM Plex Sans" pitchFamily="34" charset="-120"/>
              </a:rPr>
              <a:t> failed messages are retried, then parked</a:t>
            </a:r>
            <a:endParaRPr lang="en-US" sz="1300" dirty="0"/>
          </a:p>
        </p:txBody>
      </p:sp>
      <p:sp>
        <p:nvSpPr>
          <p:cNvPr id="31" name="Text 25"/>
          <p:cNvSpPr/>
          <p:nvPr/>
        </p:nvSpPr>
        <p:spPr>
          <a:xfrm>
            <a:off x="6146800" y="4462264"/>
            <a:ext cx="2565400" cy="896441"/>
          </a:xfrm>
          <a:prstGeom prst="roundRect">
            <a:avLst>
              <a:gd name="adj" fmla="val 8500"/>
            </a:avLst>
          </a:prstGeom>
          <a:solidFill>
            <a:srgbClr val="E4F2EA"/>
          </a:solidFill>
          <a:ln/>
        </p:spPr>
        <p:txBody>
          <a:bodyPr wrap="square" lIns="104682" tIns="79282" rIns="35340" bIns="53882" rtlCol="0" anchor="t">
            <a:normAutofit/>
          </a:bodyPr>
          <a:lstStyle/>
          <a:p>
            <a:pPr algn="l" indent="0" marL="0">
              <a:lnSpc>
                <a:spcPts val="1820"/>
              </a:lnSpc>
              <a:buNone/>
            </a:pPr>
            <a:r>
              <a:rPr lang="en-US" sz="1300" b="1" dirty="0">
                <a:solidFill>
                  <a:srgbClr val="12212B"/>
                </a:solidFill>
                <a:latin typeface="IBM Plex Sans" pitchFamily="34" charset="0"/>
                <a:ea typeface="IBM Plex Sans" pitchFamily="34" charset="-122"/>
                <a:cs typeface="IBM Plex Sans" pitchFamily="34" charset="-120"/>
              </a:rPr>
              <a:t>Guarded cancel:</a:t>
            </a:r>
            <a:r>
              <a:rPr lang="en-US" sz="1300" dirty="0">
                <a:solidFill>
                  <a:srgbClr val="12212B"/>
                </a:solidFill>
                <a:latin typeface="IBM Plex Sans" pitchFamily="34" charset="0"/>
                <a:ea typeface="IBM Plex Sans" pitchFamily="34" charset="-122"/>
                <a:cs typeface="IBM Plex Sans" pitchFamily="34" charset="-120"/>
              </a:rPr>
              <a:t> a filled order can't be cancelled</a:t>
            </a:r>
            <a:endParaRPr lang="en-US" sz="1300" dirty="0"/>
          </a:p>
        </p:txBody>
      </p:sp>
      <p:sp>
        <p:nvSpPr>
          <p:cNvPr id="32" name="Text 26"/>
          <p:cNvSpPr/>
          <p:nvPr/>
        </p:nvSpPr>
        <p:spPr>
          <a:xfrm>
            <a:off x="8813800" y="4462264"/>
            <a:ext cx="2565400" cy="896441"/>
          </a:xfrm>
          <a:prstGeom prst="roundRect">
            <a:avLst>
              <a:gd name="adj" fmla="val 8500"/>
            </a:avLst>
          </a:prstGeom>
          <a:solidFill>
            <a:srgbClr val="E4F2EA"/>
          </a:solidFill>
          <a:ln/>
        </p:spPr>
        <p:txBody>
          <a:bodyPr wrap="square" lIns="104682" tIns="79282" rIns="35340" bIns="53882" rtlCol="0" anchor="t">
            <a:normAutofit/>
          </a:bodyPr>
          <a:lstStyle/>
          <a:p>
            <a:pPr algn="l" indent="0" marL="0">
              <a:lnSpc>
                <a:spcPts val="1820"/>
              </a:lnSpc>
              <a:buNone/>
            </a:pPr>
            <a:r>
              <a:rPr lang="en-US" sz="1300" b="1" dirty="0">
                <a:solidFill>
                  <a:srgbClr val="12212B"/>
                </a:solidFill>
                <a:latin typeface="IBM Plex Sans" pitchFamily="34" charset="0"/>
                <a:ea typeface="IBM Plex Sans" pitchFamily="34" charset="-122"/>
                <a:cs typeface="IBM Plex Sans" pitchFamily="34" charset="-120"/>
              </a:rPr>
              <a:t>Optimistic locking:</a:t>
            </a:r>
            <a:r>
              <a:rPr lang="en-US" sz="1300" dirty="0">
                <a:solidFill>
                  <a:srgbClr val="12212B"/>
                </a:solidFill>
                <a:latin typeface="IBM Plex Sans" pitchFamily="34" charset="0"/>
                <a:ea typeface="IBM Plex Sans" pitchFamily="34" charset="-122"/>
                <a:cs typeface="IBM Plex Sans" pitchFamily="34" charset="-120"/>
              </a:rPr>
              <a:t> two updates can't overwrite each other</a:t>
            </a:r>
            <a:endParaRPr lang="en-US" sz="1300" dirty="0"/>
          </a:p>
        </p:txBody>
      </p:sp>
      <p:sp>
        <p:nvSpPr>
          <p:cNvPr id="33"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JetBrains Mono" pitchFamily="49" charset="0"/>
                <a:ea typeface="JetBrains Mono" pitchFamily="49" charset="-122"/>
                <a:cs typeface="JetBrains Mono" pitchFamily="49" charset="-120"/>
              </a:rPr>
              <a:t>The UnderFrogs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5E43"/>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9FE3BF"/>
                </a:solidFill>
                <a:latin typeface="JetBrains Mono" pitchFamily="49" charset="0"/>
                <a:ea typeface="JetBrains Mono" pitchFamily="49" charset="-122"/>
                <a:cs typeface="JetBrains Mono" pitchFamily="49" charset="-120"/>
              </a:rPr>
              <a:t>▶ LIVE DEMO</a:t>
            </a:r>
            <a:endParaRPr lang="en-US" sz="1400" dirty="0"/>
          </a:p>
        </p:txBody>
      </p:sp>
      <p:sp>
        <p:nvSpPr>
          <p:cNvPr id="3" name="Text 1"/>
          <p:cNvSpPr/>
          <p:nvPr>
            <p:ph type="title"/>
          </p:nvPr>
        </p:nvSpPr>
        <p:spPr>
          <a:xfrm>
            <a:off x="812800" y="1163241"/>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i="0" spc="-100" kern="0" dirty="0">
                <a:solidFill>
                  <a:srgbClr val="F5F4EE"/>
                </a:solidFill>
                <a:latin typeface="IBM Plex Sans" pitchFamily="34" charset="0"/>
                <a:ea typeface="IBM Plex Sans" pitchFamily="34" charset="-122"/>
                <a:cs typeface="IBM Plex Sans" pitchFamily="34" charset="-120"/>
              </a:rPr>
              <a:t>Let's place a trade</a:t>
            </a:r>
            <a:endParaRPr lang="en-US" sz="6000" dirty="0"/>
          </a:p>
        </p:txBody>
      </p:sp>
      <p:sp>
        <p:nvSpPr>
          <p:cNvPr id="4" name="Shape 2"/>
          <p:cNvSpPr/>
          <p:nvPr/>
        </p:nvSpPr>
        <p:spPr>
          <a:xfrm>
            <a:off x="812800" y="2287191"/>
            <a:ext cx="5283200" cy="0"/>
          </a:xfrm>
          <a:prstGeom prst="line">
            <a:avLst/>
          </a:prstGeom>
          <a:noFill/>
          <a:ln w="12700">
            <a:solidFill>
              <a:srgbClr val="3E7E62"/>
            </a:solidFill>
            <a:prstDash val="solid"/>
          </a:ln>
        </p:spPr>
      </p:sp>
      <p:sp>
        <p:nvSpPr>
          <p:cNvPr id="5" name="Text 3"/>
          <p:cNvSpPr/>
          <p:nvPr/>
        </p:nvSpPr>
        <p:spPr>
          <a:xfrm>
            <a:off x="812800" y="2395141"/>
            <a:ext cx="544169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E3BF"/>
                </a:solidFill>
                <a:latin typeface="IBM Plex Sans" pitchFamily="34" charset="0"/>
                <a:ea typeface="IBM Plex Sans" pitchFamily="34" charset="-122"/>
                <a:cs typeface="IBM Plex Sans" pitchFamily="34" charset="-120"/>
              </a:rPr>
              <a:t>1</a:t>
            </a:r>
            <a:r>
              <a:rPr lang="en-US" sz="1600" dirty="0">
                <a:solidFill>
                  <a:srgbClr val="F5F4EE"/>
                </a:solidFill>
                <a:latin typeface="IBM Plex Sans" pitchFamily="34" charset="0"/>
                <a:ea typeface="IBM Plex Sans" pitchFamily="34" charset="-122"/>
                <a:cs typeface="IBM Plex Sans" pitchFamily="34" charset="-120"/>
              </a:rPr>
              <a:t> Log in through auth-service</a:t>
            </a:r>
            <a:endParaRPr lang="en-US" sz="1600" dirty="0"/>
          </a:p>
        </p:txBody>
      </p:sp>
      <p:sp>
        <p:nvSpPr>
          <p:cNvPr id="6" name="Shape 4"/>
          <p:cNvSpPr/>
          <p:nvPr/>
        </p:nvSpPr>
        <p:spPr>
          <a:xfrm>
            <a:off x="6096000" y="2287191"/>
            <a:ext cx="5283200" cy="0"/>
          </a:xfrm>
          <a:prstGeom prst="line">
            <a:avLst/>
          </a:prstGeom>
          <a:noFill/>
          <a:ln w="12700">
            <a:solidFill>
              <a:srgbClr val="3E7E62"/>
            </a:solidFill>
            <a:prstDash val="solid"/>
          </a:ln>
        </p:spPr>
      </p:sp>
      <p:sp>
        <p:nvSpPr>
          <p:cNvPr id="7" name="Text 5"/>
          <p:cNvSpPr/>
          <p:nvPr/>
        </p:nvSpPr>
        <p:spPr>
          <a:xfrm>
            <a:off x="6096000" y="2395141"/>
            <a:ext cx="544169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E3BF"/>
                </a:solidFill>
                <a:latin typeface="IBM Plex Sans" pitchFamily="34" charset="0"/>
                <a:ea typeface="IBM Plex Sans" pitchFamily="34" charset="-122"/>
                <a:cs typeface="IBM Plex Sans" pitchFamily="34" charset="-120"/>
              </a:rPr>
              <a:t>5</a:t>
            </a:r>
            <a:r>
              <a:rPr lang="en-US" sz="1600" dirty="0">
                <a:solidFill>
                  <a:srgbClr val="F5F4EE"/>
                </a:solidFill>
                <a:latin typeface="IBM Plex Sans" pitchFamily="34" charset="0"/>
                <a:ea typeface="IBM Plex Sans" pitchFamily="34" charset="-122"/>
                <a:cs typeface="IBM Plex Sans" pitchFamily="34" charset="-120"/>
              </a:rPr>
              <a:t> Order FILLED, cash down, position up</a:t>
            </a:r>
            <a:endParaRPr lang="en-US" sz="1600" dirty="0"/>
          </a:p>
        </p:txBody>
      </p:sp>
      <p:sp>
        <p:nvSpPr>
          <p:cNvPr id="8" name="Shape 6"/>
          <p:cNvSpPr/>
          <p:nvPr/>
        </p:nvSpPr>
        <p:spPr>
          <a:xfrm>
            <a:off x="812800" y="2685951"/>
            <a:ext cx="5283200" cy="0"/>
          </a:xfrm>
          <a:prstGeom prst="line">
            <a:avLst/>
          </a:prstGeom>
          <a:noFill/>
          <a:ln w="12700">
            <a:solidFill>
              <a:srgbClr val="3E7E62"/>
            </a:solidFill>
            <a:prstDash val="solid"/>
          </a:ln>
        </p:spPr>
      </p:sp>
      <p:sp>
        <p:nvSpPr>
          <p:cNvPr id="9" name="Text 7"/>
          <p:cNvSpPr/>
          <p:nvPr/>
        </p:nvSpPr>
        <p:spPr>
          <a:xfrm>
            <a:off x="812800" y="2793901"/>
            <a:ext cx="544169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E3BF"/>
                </a:solidFill>
                <a:latin typeface="IBM Plex Sans" pitchFamily="34" charset="0"/>
                <a:ea typeface="IBM Plex Sans" pitchFamily="34" charset="-122"/>
                <a:cs typeface="IBM Plex Sans" pitchFamily="34" charset="-120"/>
              </a:rPr>
              <a:t>2</a:t>
            </a:r>
            <a:r>
              <a:rPr lang="en-US" sz="1600" dirty="0">
                <a:solidFill>
                  <a:srgbClr val="F5F4EE"/>
                </a:solidFill>
                <a:latin typeface="IBM Plex Sans" pitchFamily="34" charset="0"/>
                <a:ea typeface="IBM Plex Sans" pitchFamily="34" charset="-122"/>
                <a:cs typeface="IBM Plex Sans" pitchFamily="34" charset="-120"/>
              </a:rPr>
              <a:t> Call without a token: 401</a:t>
            </a:r>
            <a:endParaRPr lang="en-US" sz="1600" dirty="0"/>
          </a:p>
        </p:txBody>
      </p:sp>
      <p:sp>
        <p:nvSpPr>
          <p:cNvPr id="10" name="Shape 8"/>
          <p:cNvSpPr/>
          <p:nvPr/>
        </p:nvSpPr>
        <p:spPr>
          <a:xfrm>
            <a:off x="6096000" y="2685951"/>
            <a:ext cx="5283200" cy="0"/>
          </a:xfrm>
          <a:prstGeom prst="line">
            <a:avLst/>
          </a:prstGeom>
          <a:noFill/>
          <a:ln w="12700">
            <a:solidFill>
              <a:srgbClr val="3E7E62"/>
            </a:solidFill>
            <a:prstDash val="solid"/>
          </a:ln>
        </p:spPr>
      </p:sp>
      <p:sp>
        <p:nvSpPr>
          <p:cNvPr id="11" name="Text 9"/>
          <p:cNvSpPr/>
          <p:nvPr/>
        </p:nvSpPr>
        <p:spPr>
          <a:xfrm>
            <a:off x="6096000" y="2793901"/>
            <a:ext cx="544169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E3BF"/>
                </a:solidFill>
                <a:latin typeface="IBM Plex Sans" pitchFamily="34" charset="0"/>
                <a:ea typeface="IBM Plex Sans" pitchFamily="34" charset="-122"/>
                <a:cs typeface="IBM Plex Sans" pitchFamily="34" charset="-120"/>
              </a:rPr>
              <a:t>6</a:t>
            </a:r>
            <a:r>
              <a:rPr lang="en-US" sz="1600" dirty="0">
                <a:solidFill>
                  <a:srgbClr val="F5F4EE"/>
                </a:solidFill>
                <a:latin typeface="IBM Plex Sans" pitchFamily="34" charset="0"/>
                <a:ea typeface="IBM Plex Sans" pitchFamily="34" charset="-122"/>
                <a:cs typeface="IBM Plex Sans" pitchFamily="34" charset="-120"/>
              </a:rPr>
              <a:t> Resend the same order: no double charge</a:t>
            </a:r>
            <a:endParaRPr lang="en-US" sz="1600" dirty="0"/>
          </a:p>
        </p:txBody>
      </p:sp>
      <p:sp>
        <p:nvSpPr>
          <p:cNvPr id="12" name="Shape 10"/>
          <p:cNvSpPr/>
          <p:nvPr/>
        </p:nvSpPr>
        <p:spPr>
          <a:xfrm>
            <a:off x="812800" y="3084711"/>
            <a:ext cx="5283200" cy="0"/>
          </a:xfrm>
          <a:prstGeom prst="line">
            <a:avLst/>
          </a:prstGeom>
          <a:noFill/>
          <a:ln w="12700">
            <a:solidFill>
              <a:srgbClr val="3E7E62"/>
            </a:solidFill>
            <a:prstDash val="solid"/>
          </a:ln>
        </p:spPr>
      </p:sp>
      <p:sp>
        <p:nvSpPr>
          <p:cNvPr id="13" name="Text 11"/>
          <p:cNvSpPr/>
          <p:nvPr/>
        </p:nvSpPr>
        <p:spPr>
          <a:xfrm>
            <a:off x="812800" y="3192661"/>
            <a:ext cx="544169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E3BF"/>
                </a:solidFill>
                <a:latin typeface="IBM Plex Sans" pitchFamily="34" charset="0"/>
                <a:ea typeface="IBM Plex Sans" pitchFamily="34" charset="-122"/>
                <a:cs typeface="IBM Plex Sans" pitchFamily="34" charset="-120"/>
              </a:rPr>
              <a:t>3</a:t>
            </a:r>
            <a:r>
              <a:rPr lang="en-US" sz="1600" dirty="0">
                <a:solidFill>
                  <a:srgbClr val="F5F4EE"/>
                </a:solidFill>
                <a:latin typeface="IBM Plex Sans" pitchFamily="34" charset="0"/>
                <a:ea typeface="IBM Plex Sans" pitchFamily="34" charset="-122"/>
                <a:cs typeface="IBM Plex Sans" pitchFamily="34" charset="-120"/>
              </a:rPr>
              <a:t> Place a BUY: it returns NEW</a:t>
            </a:r>
            <a:endParaRPr lang="en-US" sz="1600" dirty="0"/>
          </a:p>
        </p:txBody>
      </p:sp>
      <p:sp>
        <p:nvSpPr>
          <p:cNvPr id="14" name="Shape 12"/>
          <p:cNvSpPr/>
          <p:nvPr/>
        </p:nvSpPr>
        <p:spPr>
          <a:xfrm>
            <a:off x="6096000" y="3084711"/>
            <a:ext cx="5283200" cy="0"/>
          </a:xfrm>
          <a:prstGeom prst="line">
            <a:avLst/>
          </a:prstGeom>
          <a:noFill/>
          <a:ln w="12700">
            <a:solidFill>
              <a:srgbClr val="3E7E62"/>
            </a:solidFill>
            <a:prstDash val="solid"/>
          </a:ln>
        </p:spPr>
      </p:sp>
      <p:sp>
        <p:nvSpPr>
          <p:cNvPr id="15" name="Text 13"/>
          <p:cNvSpPr/>
          <p:nvPr/>
        </p:nvSpPr>
        <p:spPr>
          <a:xfrm>
            <a:off x="6096000" y="3192661"/>
            <a:ext cx="544169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E3BF"/>
                </a:solidFill>
                <a:latin typeface="IBM Plex Sans" pitchFamily="34" charset="0"/>
                <a:ea typeface="IBM Plex Sans" pitchFamily="34" charset="-122"/>
                <a:cs typeface="IBM Plex Sans" pitchFamily="34" charset="-120"/>
              </a:rPr>
              <a:t>7</a:t>
            </a:r>
            <a:r>
              <a:rPr lang="en-US" sz="1600" dirty="0">
                <a:solidFill>
                  <a:srgbClr val="F5F4EE"/>
                </a:solidFill>
                <a:latin typeface="IBM Plex Sans" pitchFamily="34" charset="0"/>
                <a:ea typeface="IBM Plex Sans" pitchFamily="34" charset="-122"/>
                <a:cs typeface="IBM Plex Sans" pitchFamily="34" charset="-120"/>
              </a:rPr>
              <a:t> See it on the dashboard: live, then batch</a:t>
            </a:r>
            <a:endParaRPr lang="en-US" sz="1600" dirty="0"/>
          </a:p>
        </p:txBody>
      </p:sp>
      <p:sp>
        <p:nvSpPr>
          <p:cNvPr id="16" name="Shape 14"/>
          <p:cNvSpPr/>
          <p:nvPr/>
        </p:nvSpPr>
        <p:spPr>
          <a:xfrm>
            <a:off x="812800" y="3483471"/>
            <a:ext cx="5283200" cy="0"/>
          </a:xfrm>
          <a:prstGeom prst="line">
            <a:avLst/>
          </a:prstGeom>
          <a:noFill/>
          <a:ln w="12700">
            <a:solidFill>
              <a:srgbClr val="3E7E62"/>
            </a:solidFill>
            <a:prstDash val="solid"/>
          </a:ln>
        </p:spPr>
      </p:sp>
      <p:sp>
        <p:nvSpPr>
          <p:cNvPr id="17" name="Text 15"/>
          <p:cNvSpPr/>
          <p:nvPr/>
        </p:nvSpPr>
        <p:spPr>
          <a:xfrm>
            <a:off x="812800" y="3591421"/>
            <a:ext cx="544169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E3BF"/>
                </a:solidFill>
                <a:latin typeface="IBM Plex Sans" pitchFamily="34" charset="0"/>
                <a:ea typeface="IBM Plex Sans" pitchFamily="34" charset="-122"/>
                <a:cs typeface="IBM Plex Sans" pitchFamily="34" charset="-120"/>
              </a:rPr>
              <a:t>4</a:t>
            </a:r>
            <a:r>
              <a:rPr lang="en-US" sz="1600" dirty="0">
                <a:solidFill>
                  <a:srgbClr val="F5F4EE"/>
                </a:solidFill>
                <a:latin typeface="IBM Plex Sans" pitchFamily="34" charset="0"/>
                <a:ea typeface="IBM Plex Sans" pitchFamily="34" charset="-122"/>
                <a:cs typeface="IBM Plex Sans" pitchFamily="34" charset="-120"/>
              </a:rPr>
              <a:t> Watch the events in kafka-ui</a:t>
            </a:r>
            <a:endParaRPr lang="en-US" sz="16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E3BF"/>
                </a:solidFill>
                <a:latin typeface="JetBrains Mono" pitchFamily="49" charset="0"/>
                <a:ea typeface="JetBrains Mono" pitchFamily="49" charset="-122"/>
                <a:cs typeface="JetBrains Mono" pitchFamily="49" charset="-120"/>
              </a:rPr>
              <a:t>The UnderFrogs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E7F55"/>
                </a:solidFill>
                <a:latin typeface="JetBrains Mono" pitchFamily="49" charset="0"/>
                <a:ea typeface="JetBrains Mono" pitchFamily="49" charset="-122"/>
                <a:cs typeface="JetBrains Mono" pitchFamily="49" charset="-120"/>
              </a:rPr>
              <a:t>04 · SECURITY AND QUALITY</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12B"/>
                </a:solidFill>
                <a:latin typeface="IBM Plex Sans" pitchFamily="34" charset="0"/>
                <a:ea typeface="IBM Plex Sans" pitchFamily="34" charset="-122"/>
                <a:cs typeface="IBM Plex Sans" pitchFamily="34" charset="-120"/>
              </a:rPr>
              <a:t>Security: one service issues every token</a:t>
            </a:r>
            <a:endParaRPr lang="en-US" sz="3200" dirty="0"/>
          </a:p>
        </p:txBody>
      </p:sp>
      <p:sp>
        <p:nvSpPr>
          <p:cNvPr id="4" name="Shape 2"/>
          <p:cNvSpPr/>
          <p:nvPr/>
        </p:nvSpPr>
        <p:spPr>
          <a:xfrm>
            <a:off x="815975" y="1831876"/>
            <a:ext cx="4594920" cy="2558455"/>
          </a:xfrm>
          <a:prstGeom prst="roundRect">
            <a:avLst>
              <a:gd name="adj" fmla="val 3847"/>
            </a:avLst>
          </a:prstGeom>
          <a:solidFill>
            <a:srgbClr val="FCFBF8"/>
          </a:solidFill>
          <a:ln w="6350">
            <a:solidFill>
              <a:srgbClr val="E2E0D8"/>
            </a:solidFill>
            <a:prstDash val="solid"/>
          </a:ln>
        </p:spPr>
      </p:sp>
      <p:sp>
        <p:nvSpPr>
          <p:cNvPr id="5" name="Text 3"/>
          <p:cNvSpPr/>
          <p:nvPr/>
        </p:nvSpPr>
        <p:spPr>
          <a:xfrm>
            <a:off x="1073150" y="2089051"/>
            <a:ext cx="420298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7680"/>
                </a:solidFill>
                <a:latin typeface="JetBrains Mono" pitchFamily="49" charset="0"/>
                <a:ea typeface="JetBrains Mono" pitchFamily="49" charset="-122"/>
                <a:cs typeface="JetBrains Mono" pitchFamily="49" charset="-120"/>
              </a:rPr>
              <a:t>BEFORE</a:t>
            </a:r>
            <a:endParaRPr lang="en-US" sz="1200" dirty="0"/>
          </a:p>
        </p:txBody>
      </p:sp>
      <p:sp>
        <p:nvSpPr>
          <p:cNvPr id="6" name="Text 4"/>
          <p:cNvSpPr/>
          <p:nvPr/>
        </p:nvSpPr>
        <p:spPr>
          <a:xfrm>
            <a:off x="1151382" y="2403971"/>
            <a:ext cx="4117135" cy="771922"/>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4A5560"/>
                </a:solidFill>
                <a:latin typeface="IBM Plex Sans" pitchFamily="34" charset="0"/>
                <a:ea typeface="IBM Plex Sans" pitchFamily="34" charset="-122"/>
                <a:cs typeface="IBM Plex Sans" pitchFamily="34" charset="-120"/>
              </a:rPr>
              <a:t>accounts-service handled users and login</a:t>
            </a:r>
            <a:endParaRPr lang="en-US" sz="1400" dirty="0"/>
          </a:p>
          <a:p>
            <a:pPr algn="l" marL="175768" indent="-175768">
              <a:lnSpc>
                <a:spcPts val="1960"/>
              </a:lnSpc>
              <a:buSzPct val="100000"/>
              <a:buChar char="•"/>
            </a:pPr>
            <a:r>
              <a:rPr lang="en-US" sz="1400" dirty="0">
                <a:solidFill>
                  <a:srgbClr val="4A5560"/>
                </a:solidFill>
                <a:latin typeface="IBM Plex Sans" pitchFamily="34" charset="0"/>
                <a:ea typeface="IBM Plex Sans" pitchFamily="34" charset="-122"/>
                <a:cs typeface="IBM Plex Sans" pitchFamily="34" charset="-120"/>
              </a:rPr>
              <a:t>One shared secret copied into every service</a:t>
            </a:r>
            <a:endParaRPr lang="en-US" sz="1400" dirty="0"/>
          </a:p>
          <a:p>
            <a:pPr algn="l" marL="175768" indent="-175768">
              <a:lnSpc>
                <a:spcPts val="1960"/>
              </a:lnSpc>
              <a:buSzPct val="100000"/>
              <a:buChar char="•"/>
            </a:pPr>
            <a:r>
              <a:rPr lang="en-US" sz="1400" dirty="0">
                <a:solidFill>
                  <a:srgbClr val="4A5560"/>
                </a:solidFill>
                <a:latin typeface="IBM Plex Sans" pitchFamily="34" charset="0"/>
                <a:ea typeface="IBM Plex Sans" pitchFamily="34" charset="-122"/>
                <a:cs typeface="IBM Plex Sans" pitchFamily="34" charset="-120"/>
              </a:rPr>
              <a:t>Any service holding it could create a valid token</a:t>
            </a:r>
            <a:endParaRPr lang="en-US" sz="1400" dirty="0"/>
          </a:p>
        </p:txBody>
      </p:sp>
      <p:sp>
        <p:nvSpPr>
          <p:cNvPr id="7" name="Shape 5"/>
          <p:cNvSpPr/>
          <p:nvPr/>
        </p:nvSpPr>
        <p:spPr>
          <a:xfrm>
            <a:off x="5566470" y="1828701"/>
            <a:ext cx="5812730" cy="2564805"/>
          </a:xfrm>
          <a:prstGeom prst="roundRect">
            <a:avLst>
              <a:gd name="adj" fmla="val 3961"/>
            </a:avLst>
          </a:prstGeom>
          <a:solidFill>
            <a:srgbClr val="12212B"/>
          </a:solidFill>
          <a:ln/>
        </p:spPr>
      </p:sp>
      <p:sp>
        <p:nvSpPr>
          <p:cNvPr id="8" name="Text 6"/>
          <p:cNvSpPr/>
          <p:nvPr/>
        </p:nvSpPr>
        <p:spPr>
          <a:xfrm>
            <a:off x="5820470" y="2082701"/>
            <a:ext cx="546387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FD3A0"/>
                </a:solidFill>
                <a:latin typeface="JetBrains Mono" pitchFamily="49" charset="0"/>
                <a:ea typeface="JetBrains Mono" pitchFamily="49" charset="-122"/>
                <a:cs typeface="JetBrains Mono" pitchFamily="49" charset="-120"/>
              </a:rPr>
              <a:t>AFTER · SPRINT 8</a:t>
            </a:r>
            <a:endParaRPr lang="en-US" sz="1200" dirty="0"/>
          </a:p>
        </p:txBody>
      </p:sp>
      <p:sp>
        <p:nvSpPr>
          <p:cNvPr id="9" name="Text 7"/>
          <p:cNvSpPr/>
          <p:nvPr/>
        </p:nvSpPr>
        <p:spPr>
          <a:xfrm>
            <a:off x="5898702" y="2397621"/>
            <a:ext cx="5378020" cy="1767284"/>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F5F4EE"/>
                </a:solidFill>
                <a:latin typeface="IBM Plex Sans" pitchFamily="34" charset="0"/>
                <a:ea typeface="IBM Plex Sans" pitchFamily="34" charset="-122"/>
                <a:cs typeface="IBM Plex Sans" pitchFamily="34" charset="-120"/>
              </a:rPr>
              <a:t>NestJS auth-service owns users and logins</a:t>
            </a:r>
            <a:endParaRPr lang="en-US" sz="1400" dirty="0"/>
          </a:p>
          <a:p>
            <a:pPr algn="l" marL="175768" indent="-175768">
              <a:lnSpc>
                <a:spcPts val="1960"/>
              </a:lnSpc>
              <a:buSzPct val="100000"/>
              <a:buChar char="•"/>
            </a:pPr>
            <a:r>
              <a:rPr lang="en-US" sz="1400" dirty="0">
                <a:solidFill>
                  <a:srgbClr val="F5F4EE"/>
                </a:solidFill>
                <a:latin typeface="IBM Plex Sans" pitchFamily="34" charset="0"/>
                <a:ea typeface="IBM Plex Sans" pitchFamily="34" charset="-122"/>
                <a:cs typeface="IBM Plex Sans" pitchFamily="34" charset="-120"/>
              </a:rPr>
              <a:t>argon2id password hashing; old BCrypt hashes upgraded at next login</a:t>
            </a:r>
            <a:endParaRPr lang="en-US" sz="1400" dirty="0"/>
          </a:p>
          <a:p>
            <a:pPr algn="l" marL="175768" indent="-175768">
              <a:lnSpc>
                <a:spcPts val="1960"/>
              </a:lnSpc>
              <a:buSzPct val="100000"/>
              <a:buChar char="•"/>
            </a:pPr>
            <a:r>
              <a:rPr lang="en-US" sz="1400" dirty="0">
                <a:solidFill>
                  <a:srgbClr val="F5F4EE"/>
                </a:solidFill>
                <a:latin typeface="IBM Plex Sans" pitchFamily="34" charset="0"/>
                <a:ea typeface="IBM Plex Sans" pitchFamily="34" charset="-122"/>
                <a:cs typeface="IBM Plex Sans" pitchFamily="34" charset="-120"/>
              </a:rPr>
              <a:t>RS256 tokens: the private key never leaves auth-service</a:t>
            </a:r>
            <a:endParaRPr lang="en-US" sz="1400" dirty="0"/>
          </a:p>
          <a:p>
            <a:pPr algn="l" marL="175768" indent="-175768">
              <a:lnSpc>
                <a:spcPts val="1960"/>
              </a:lnSpc>
              <a:buSzPct val="100000"/>
              <a:buChar char="•"/>
            </a:pPr>
            <a:r>
              <a:rPr lang="en-US" sz="1400" dirty="0">
                <a:solidFill>
                  <a:srgbClr val="F5F4EE"/>
                </a:solidFill>
                <a:latin typeface="IBM Plex Sans" pitchFamily="34" charset="0"/>
                <a:ea typeface="IBM Plex Sans" pitchFamily="34" charset="-122"/>
                <a:cs typeface="IBM Plex Sans" pitchFamily="34" charset="-120"/>
              </a:rPr>
              <a:t>Services verify with its public key (JWKS), checking issuer and audience</a:t>
            </a:r>
            <a:endParaRPr lang="en-US" sz="1400" dirty="0"/>
          </a:p>
          <a:p>
            <a:pPr algn="l" marL="175768" indent="-175768">
              <a:lnSpc>
                <a:spcPts val="1960"/>
              </a:lnSpc>
              <a:buSzPct val="100000"/>
              <a:buChar char="•"/>
            </a:pPr>
            <a:r>
              <a:rPr lang="en-US" sz="1400" dirty="0">
                <a:solidFill>
                  <a:srgbClr val="F5F4EE"/>
                </a:solidFill>
                <a:latin typeface="IBM Plex Sans" pitchFamily="34" charset="0"/>
                <a:ea typeface="IBM Plex Sans" pitchFamily="34" charset="-122"/>
                <a:cs typeface="IBM Plex Sans" pitchFamily="34" charset="-120"/>
              </a:rPr>
              <a:t>Roles map to Spring roles for access control</a:t>
            </a:r>
            <a:endParaRPr lang="en-US" sz="1400" dirty="0"/>
          </a:p>
        </p:txBody>
      </p:sp>
      <p:sp>
        <p:nvSpPr>
          <p:cNvPr id="10" name="Text 8"/>
          <p:cNvSpPr/>
          <p:nvPr/>
        </p:nvSpPr>
        <p:spPr>
          <a:xfrm>
            <a:off x="812800" y="4647505"/>
            <a:ext cx="10566400" cy="485080"/>
          </a:xfrm>
          <a:prstGeom prst="roundRect">
            <a:avLst>
              <a:gd name="adj" fmla="val 15709"/>
            </a:avLst>
          </a:prstGeom>
          <a:solidFill>
            <a:srgbClr val="E4F2EA"/>
          </a:solidFill>
          <a:ln/>
        </p:spPr>
        <p:txBody>
          <a:bodyPr wrap="square" lIns="130082" tIns="104682" rIns="0" bIns="79282" rtlCol="0" anchor="t">
            <a:normAutofit/>
          </a:bodyPr>
          <a:lstStyle/>
          <a:p>
            <a:pPr algn="l" indent="0" marL="0">
              <a:lnSpc>
                <a:spcPts val="1820"/>
              </a:lnSpc>
              <a:buNone/>
            </a:pPr>
            <a:r>
              <a:rPr lang="en-US" sz="1300" b="1" dirty="0">
                <a:solidFill>
                  <a:srgbClr val="12212B"/>
                </a:solidFill>
                <a:latin typeface="IBM Plex Sans" pitchFamily="34" charset="0"/>
                <a:ea typeface="IBM Plex Sans" pitchFamily="34" charset="-122"/>
                <a:cs typeface="IBM Plex Sans" pitchFamily="34" charset="-120"/>
              </a:rPr>
              <a:t>Finishing this sprint:</a:t>
            </a:r>
            <a:r>
              <a:rPr lang="en-US" sz="1300" dirty="0">
                <a:solidFill>
                  <a:srgbClr val="12212B"/>
                </a:solidFill>
                <a:latin typeface="IBM Plex Sans" pitchFamily="34" charset="0"/>
                <a:ea typeface="IBM Plex Sans" pitchFamily="34" charset="-122"/>
                <a:cs typeface="IBM Plex Sans" pitchFamily="34" charset="-120"/>
              </a:rPr>
              <a:t> service tokens for the trade-executor, account ownership checks, OWASP auth review</a:t>
            </a:r>
            <a:endParaRPr lang="en-US" sz="13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JetBrains Mono" pitchFamily="49" charset="0"/>
                <a:ea typeface="JetBrains Mono" pitchFamily="49" charset="-122"/>
                <a:cs typeface="JetBrains Mono" pitchFamily="49" charset="-120"/>
              </a:rPr>
              <a:t>The UnderFrogs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E7F55"/>
                </a:solidFill>
                <a:latin typeface="JetBrains Mono" pitchFamily="49" charset="0"/>
                <a:ea typeface="JetBrains Mono" pitchFamily="49" charset="-122"/>
                <a:cs typeface="JetBrains Mono" pitchFamily="49" charset="-120"/>
              </a:rPr>
              <a:t>04 · SECURITY AND QUALITY</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12B"/>
                </a:solidFill>
                <a:latin typeface="IBM Plex Sans" pitchFamily="34" charset="0"/>
                <a:ea typeface="IBM Plex Sans" pitchFamily="34" charset="-122"/>
                <a:cs typeface="IBM Plex Sans" pitchFamily="34" charset="-120"/>
              </a:rPr>
              <a:t>Quality: tested and gated on every build</a:t>
            </a:r>
            <a:endParaRPr lang="en-US" sz="3200" dirty="0"/>
          </a:p>
        </p:txBody>
      </p:sp>
      <p:sp>
        <p:nvSpPr>
          <p:cNvPr id="4" name="Shape 2"/>
          <p:cNvSpPr/>
          <p:nvPr/>
        </p:nvSpPr>
        <p:spPr>
          <a:xfrm>
            <a:off x="815975" y="1882676"/>
            <a:ext cx="3414117" cy="1423591"/>
          </a:xfrm>
          <a:prstGeom prst="roundRect">
            <a:avLst>
              <a:gd name="adj" fmla="val 6914"/>
            </a:avLst>
          </a:prstGeom>
          <a:solidFill>
            <a:srgbClr val="FCFBF8"/>
          </a:solidFill>
          <a:ln w="6350">
            <a:solidFill>
              <a:srgbClr val="E2E0D8"/>
            </a:solidFill>
            <a:prstDash val="solid"/>
          </a:ln>
        </p:spPr>
      </p:sp>
      <p:sp>
        <p:nvSpPr>
          <p:cNvPr id="5" name="Text 3"/>
          <p:cNvSpPr/>
          <p:nvPr/>
        </p:nvSpPr>
        <p:spPr>
          <a:xfrm>
            <a:off x="1073150" y="2139851"/>
            <a:ext cx="298676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E7F55"/>
                </a:solidFill>
                <a:latin typeface="IBM Plex Sans" pitchFamily="34" charset="0"/>
                <a:ea typeface="IBM Plex Sans" pitchFamily="34" charset="-122"/>
                <a:cs typeface="IBM Plex Sans" pitchFamily="34" charset="-120"/>
              </a:rPr>
              <a:t>~670</a:t>
            </a:r>
            <a:endParaRPr lang="en-US" sz="4800" dirty="0"/>
          </a:p>
        </p:txBody>
      </p:sp>
      <p:sp>
        <p:nvSpPr>
          <p:cNvPr id="6" name="Text 4"/>
          <p:cNvSpPr/>
          <p:nvPr/>
        </p:nvSpPr>
        <p:spPr>
          <a:xfrm>
            <a:off x="1073150" y="2800251"/>
            <a:ext cx="29867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Java tests across 5 services</a:t>
            </a:r>
            <a:endParaRPr lang="en-US" sz="1400" dirty="0"/>
          </a:p>
        </p:txBody>
      </p:sp>
      <p:sp>
        <p:nvSpPr>
          <p:cNvPr id="7" name="Shape 5"/>
          <p:cNvSpPr/>
          <p:nvPr/>
        </p:nvSpPr>
        <p:spPr>
          <a:xfrm>
            <a:off x="4388842" y="1882676"/>
            <a:ext cx="3414216" cy="1423591"/>
          </a:xfrm>
          <a:prstGeom prst="roundRect">
            <a:avLst>
              <a:gd name="adj" fmla="val 6914"/>
            </a:avLst>
          </a:prstGeom>
          <a:solidFill>
            <a:srgbClr val="FCFBF8"/>
          </a:solidFill>
          <a:ln w="6350">
            <a:solidFill>
              <a:srgbClr val="E2E0D8"/>
            </a:solidFill>
            <a:prstDash val="solid"/>
          </a:ln>
        </p:spPr>
      </p:sp>
      <p:sp>
        <p:nvSpPr>
          <p:cNvPr id="8" name="Text 6"/>
          <p:cNvSpPr/>
          <p:nvPr/>
        </p:nvSpPr>
        <p:spPr>
          <a:xfrm>
            <a:off x="4646017" y="2139851"/>
            <a:ext cx="298686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E7F55"/>
                </a:solidFill>
                <a:latin typeface="IBM Plex Sans" pitchFamily="34" charset="0"/>
                <a:ea typeface="IBM Plex Sans" pitchFamily="34" charset="-122"/>
                <a:cs typeface="IBM Plex Sans" pitchFamily="34" charset="-120"/>
              </a:rPr>
              <a:t>13</a:t>
            </a:r>
            <a:endParaRPr lang="en-US" sz="4800" dirty="0"/>
          </a:p>
        </p:txBody>
      </p:sp>
      <p:sp>
        <p:nvSpPr>
          <p:cNvPr id="9" name="Text 7"/>
          <p:cNvSpPr/>
          <p:nvPr/>
        </p:nvSpPr>
        <p:spPr>
          <a:xfrm>
            <a:off x="4646017" y="2800251"/>
            <a:ext cx="298686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Jest test files for auth-service</a:t>
            </a:r>
            <a:endParaRPr lang="en-US" sz="1400" dirty="0"/>
          </a:p>
        </p:txBody>
      </p:sp>
      <p:sp>
        <p:nvSpPr>
          <p:cNvPr id="10" name="Shape 8"/>
          <p:cNvSpPr/>
          <p:nvPr/>
        </p:nvSpPr>
        <p:spPr>
          <a:xfrm>
            <a:off x="7961809" y="1882676"/>
            <a:ext cx="3414216" cy="1423591"/>
          </a:xfrm>
          <a:prstGeom prst="roundRect">
            <a:avLst>
              <a:gd name="adj" fmla="val 6914"/>
            </a:avLst>
          </a:prstGeom>
          <a:solidFill>
            <a:srgbClr val="FCFBF8"/>
          </a:solidFill>
          <a:ln w="6350">
            <a:solidFill>
              <a:srgbClr val="E2E0D8"/>
            </a:solidFill>
            <a:prstDash val="solid"/>
          </a:ln>
        </p:spPr>
      </p:sp>
      <p:sp>
        <p:nvSpPr>
          <p:cNvPr id="11" name="Text 9"/>
          <p:cNvSpPr/>
          <p:nvPr/>
        </p:nvSpPr>
        <p:spPr>
          <a:xfrm>
            <a:off x="8218984" y="2139851"/>
            <a:ext cx="298686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E7F55"/>
                </a:solidFill>
                <a:latin typeface="IBM Plex Sans" pitchFamily="34" charset="0"/>
                <a:ea typeface="IBM Plex Sans" pitchFamily="34" charset="-122"/>
                <a:cs typeface="IBM Plex Sans" pitchFamily="34" charset="-120"/>
              </a:rPr>
              <a:t>11</a:t>
            </a:r>
            <a:endParaRPr lang="en-US" sz="4800" dirty="0"/>
          </a:p>
        </p:txBody>
      </p:sp>
      <p:sp>
        <p:nvSpPr>
          <p:cNvPr id="12" name="Text 10"/>
          <p:cNvSpPr/>
          <p:nvPr/>
        </p:nvSpPr>
        <p:spPr>
          <a:xfrm>
            <a:off x="8218984" y="2800251"/>
            <a:ext cx="298686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pytest files for the ETL pipelines</a:t>
            </a:r>
            <a:endParaRPr lang="en-US" sz="1400" dirty="0"/>
          </a:p>
        </p:txBody>
      </p:sp>
      <p:sp>
        <p:nvSpPr>
          <p:cNvPr id="13" name="Text 11"/>
          <p:cNvSpPr/>
          <p:nvPr/>
        </p:nvSpPr>
        <p:spPr>
          <a:xfrm>
            <a:off x="812800" y="3614241"/>
            <a:ext cx="108833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212B"/>
                </a:solidFill>
                <a:latin typeface="IBM Plex Sans" pitchFamily="34" charset="0"/>
                <a:ea typeface="IBM Plex Sans" pitchFamily="34" charset="-122"/>
                <a:cs typeface="IBM Plex Sans" pitchFamily="34" charset="-120"/>
              </a:rPr>
              <a:t>The Jenkins pipeline</a:t>
            </a:r>
            <a:endParaRPr lang="en-US" sz="1500" dirty="0"/>
          </a:p>
        </p:txBody>
      </p:sp>
      <p:sp>
        <p:nvSpPr>
          <p:cNvPr id="14" name="Shape 12"/>
          <p:cNvSpPr/>
          <p:nvPr/>
        </p:nvSpPr>
        <p:spPr>
          <a:xfrm>
            <a:off x="812800" y="3944441"/>
            <a:ext cx="1444129" cy="904081"/>
          </a:xfrm>
          <a:prstGeom prst="roundRect">
            <a:avLst>
              <a:gd name="adj" fmla="val 8428"/>
            </a:avLst>
          </a:prstGeom>
          <a:solidFill>
            <a:srgbClr val="12212B"/>
          </a:solidFill>
          <a:ln/>
        </p:spPr>
      </p:sp>
      <p:sp>
        <p:nvSpPr>
          <p:cNvPr id="15" name="Text 13"/>
          <p:cNvSpPr/>
          <p:nvPr/>
        </p:nvSpPr>
        <p:spPr>
          <a:xfrm>
            <a:off x="939800" y="4046041"/>
            <a:ext cx="12409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3A0"/>
                </a:solidFill>
                <a:latin typeface="JetBrains Mono" pitchFamily="49" charset="0"/>
                <a:ea typeface="JetBrains Mono" pitchFamily="49" charset="-122"/>
                <a:cs typeface="JetBrains Mono" pitchFamily="49" charset="-120"/>
              </a:rPr>
              <a:t>1</a:t>
            </a:r>
            <a:endParaRPr lang="en-US" sz="1200" dirty="0"/>
          </a:p>
        </p:txBody>
      </p:sp>
      <p:sp>
        <p:nvSpPr>
          <p:cNvPr id="16" name="Text 14"/>
          <p:cNvSpPr/>
          <p:nvPr/>
        </p:nvSpPr>
        <p:spPr>
          <a:xfrm>
            <a:off x="939800" y="4284762"/>
            <a:ext cx="124092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4EE"/>
                </a:solidFill>
                <a:latin typeface="IBM Plex Sans" pitchFamily="34" charset="0"/>
                <a:ea typeface="IBM Plex Sans" pitchFamily="34" charset="-122"/>
                <a:cs typeface="IBM Plex Sans" pitchFamily="34" charset="-120"/>
              </a:rPr>
              <a:t>Build ×5, in parallel</a:t>
            </a:r>
            <a:endParaRPr lang="en-US" sz="1300" dirty="0"/>
          </a:p>
        </p:txBody>
      </p:sp>
      <p:sp>
        <p:nvSpPr>
          <p:cNvPr id="17" name="Shape 15"/>
          <p:cNvSpPr/>
          <p:nvPr/>
        </p:nvSpPr>
        <p:spPr>
          <a:xfrm>
            <a:off x="2333129" y="3944441"/>
            <a:ext cx="1444228" cy="904081"/>
          </a:xfrm>
          <a:prstGeom prst="roundRect">
            <a:avLst>
              <a:gd name="adj" fmla="val 8428"/>
            </a:avLst>
          </a:prstGeom>
          <a:solidFill>
            <a:srgbClr val="12212B"/>
          </a:solidFill>
          <a:ln/>
        </p:spPr>
      </p:sp>
      <p:sp>
        <p:nvSpPr>
          <p:cNvPr id="18" name="Text 16"/>
          <p:cNvSpPr/>
          <p:nvPr/>
        </p:nvSpPr>
        <p:spPr>
          <a:xfrm>
            <a:off x="2460129" y="4046041"/>
            <a:ext cx="12410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3A0"/>
                </a:solidFill>
                <a:latin typeface="JetBrains Mono" pitchFamily="49" charset="0"/>
                <a:ea typeface="JetBrains Mono" pitchFamily="49" charset="-122"/>
                <a:cs typeface="JetBrains Mono" pitchFamily="49" charset="-120"/>
              </a:rPr>
              <a:t>2</a:t>
            </a:r>
            <a:endParaRPr lang="en-US" sz="1200" dirty="0"/>
          </a:p>
        </p:txBody>
      </p:sp>
      <p:sp>
        <p:nvSpPr>
          <p:cNvPr id="19" name="Text 17"/>
          <p:cNvSpPr/>
          <p:nvPr/>
        </p:nvSpPr>
        <p:spPr>
          <a:xfrm>
            <a:off x="2460129" y="4284762"/>
            <a:ext cx="124102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4EE"/>
                </a:solidFill>
                <a:latin typeface="IBM Plex Sans" pitchFamily="34" charset="0"/>
                <a:ea typeface="IBM Plex Sans" pitchFamily="34" charset="-122"/>
                <a:cs typeface="IBM Plex Sans" pitchFamily="34" charset="-120"/>
              </a:rPr>
              <a:t>Unit tests</a:t>
            </a:r>
            <a:endParaRPr lang="en-US" sz="1300" dirty="0"/>
          </a:p>
        </p:txBody>
      </p:sp>
      <p:sp>
        <p:nvSpPr>
          <p:cNvPr id="20" name="Shape 18"/>
          <p:cNvSpPr/>
          <p:nvPr/>
        </p:nvSpPr>
        <p:spPr>
          <a:xfrm>
            <a:off x="3853557" y="3944441"/>
            <a:ext cx="1444129" cy="904081"/>
          </a:xfrm>
          <a:prstGeom prst="roundRect">
            <a:avLst>
              <a:gd name="adj" fmla="val 8428"/>
            </a:avLst>
          </a:prstGeom>
          <a:solidFill>
            <a:srgbClr val="12212B"/>
          </a:solidFill>
          <a:ln/>
        </p:spPr>
      </p:sp>
      <p:sp>
        <p:nvSpPr>
          <p:cNvPr id="21" name="Text 19"/>
          <p:cNvSpPr/>
          <p:nvPr/>
        </p:nvSpPr>
        <p:spPr>
          <a:xfrm>
            <a:off x="3980557" y="4046041"/>
            <a:ext cx="12409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3A0"/>
                </a:solidFill>
                <a:latin typeface="JetBrains Mono" pitchFamily="49" charset="0"/>
                <a:ea typeface="JetBrains Mono" pitchFamily="49" charset="-122"/>
                <a:cs typeface="JetBrains Mono" pitchFamily="49" charset="-120"/>
              </a:rPr>
              <a:t>3</a:t>
            </a:r>
            <a:endParaRPr lang="en-US" sz="1200" dirty="0"/>
          </a:p>
        </p:txBody>
      </p:sp>
      <p:sp>
        <p:nvSpPr>
          <p:cNvPr id="22" name="Text 20"/>
          <p:cNvSpPr/>
          <p:nvPr/>
        </p:nvSpPr>
        <p:spPr>
          <a:xfrm>
            <a:off x="3980557" y="4284762"/>
            <a:ext cx="124092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4EE"/>
                </a:solidFill>
                <a:latin typeface="IBM Plex Sans" pitchFamily="34" charset="0"/>
                <a:ea typeface="IBM Plex Sans" pitchFamily="34" charset="-122"/>
                <a:cs typeface="IBM Plex Sans" pitchFamily="34" charset="-120"/>
              </a:rPr>
              <a:t>Python tests</a:t>
            </a:r>
            <a:endParaRPr lang="en-US" sz="1300" dirty="0"/>
          </a:p>
        </p:txBody>
      </p:sp>
      <p:sp>
        <p:nvSpPr>
          <p:cNvPr id="23" name="Shape 21"/>
          <p:cNvSpPr/>
          <p:nvPr/>
        </p:nvSpPr>
        <p:spPr>
          <a:xfrm>
            <a:off x="5373886" y="3944441"/>
            <a:ext cx="1444228" cy="904081"/>
          </a:xfrm>
          <a:prstGeom prst="roundRect">
            <a:avLst>
              <a:gd name="adj" fmla="val 8428"/>
            </a:avLst>
          </a:prstGeom>
          <a:solidFill>
            <a:srgbClr val="12212B"/>
          </a:solidFill>
          <a:ln/>
        </p:spPr>
      </p:sp>
      <p:sp>
        <p:nvSpPr>
          <p:cNvPr id="24" name="Text 22"/>
          <p:cNvSpPr/>
          <p:nvPr/>
        </p:nvSpPr>
        <p:spPr>
          <a:xfrm>
            <a:off x="5500886" y="4046041"/>
            <a:ext cx="12410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3A0"/>
                </a:solidFill>
                <a:latin typeface="JetBrains Mono" pitchFamily="49" charset="0"/>
                <a:ea typeface="JetBrains Mono" pitchFamily="49" charset="-122"/>
                <a:cs typeface="JetBrains Mono" pitchFamily="49" charset="-120"/>
              </a:rPr>
              <a:t>4</a:t>
            </a:r>
            <a:endParaRPr lang="en-US" sz="1200" dirty="0"/>
          </a:p>
        </p:txBody>
      </p:sp>
      <p:sp>
        <p:nvSpPr>
          <p:cNvPr id="25" name="Text 23"/>
          <p:cNvSpPr/>
          <p:nvPr/>
        </p:nvSpPr>
        <p:spPr>
          <a:xfrm>
            <a:off x="5500886" y="4284762"/>
            <a:ext cx="124102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4EE"/>
                </a:solidFill>
                <a:latin typeface="IBM Plex Sans" pitchFamily="34" charset="0"/>
                <a:ea typeface="IBM Plex Sans" pitchFamily="34" charset="-122"/>
                <a:cs typeface="IBM Plex Sans" pitchFamily="34" charset="-120"/>
              </a:rPr>
              <a:t>End-to-end smoke test</a:t>
            </a:r>
            <a:endParaRPr lang="en-US" sz="1300" dirty="0"/>
          </a:p>
        </p:txBody>
      </p:sp>
      <p:sp>
        <p:nvSpPr>
          <p:cNvPr id="26" name="Shape 24"/>
          <p:cNvSpPr/>
          <p:nvPr/>
        </p:nvSpPr>
        <p:spPr>
          <a:xfrm>
            <a:off x="6894314" y="3944441"/>
            <a:ext cx="1444129" cy="904081"/>
          </a:xfrm>
          <a:prstGeom prst="roundRect">
            <a:avLst>
              <a:gd name="adj" fmla="val 8428"/>
            </a:avLst>
          </a:prstGeom>
          <a:solidFill>
            <a:srgbClr val="12212B"/>
          </a:solidFill>
          <a:ln/>
        </p:spPr>
      </p:sp>
      <p:sp>
        <p:nvSpPr>
          <p:cNvPr id="27" name="Text 25"/>
          <p:cNvSpPr/>
          <p:nvPr/>
        </p:nvSpPr>
        <p:spPr>
          <a:xfrm>
            <a:off x="7021314" y="4046041"/>
            <a:ext cx="12409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3A0"/>
                </a:solidFill>
                <a:latin typeface="JetBrains Mono" pitchFamily="49" charset="0"/>
                <a:ea typeface="JetBrains Mono" pitchFamily="49" charset="-122"/>
                <a:cs typeface="JetBrains Mono" pitchFamily="49" charset="-120"/>
              </a:rPr>
              <a:t>5</a:t>
            </a:r>
            <a:endParaRPr lang="en-US" sz="1200" dirty="0"/>
          </a:p>
        </p:txBody>
      </p:sp>
      <p:sp>
        <p:nvSpPr>
          <p:cNvPr id="28" name="Text 26"/>
          <p:cNvSpPr/>
          <p:nvPr/>
        </p:nvSpPr>
        <p:spPr>
          <a:xfrm>
            <a:off x="7021314" y="4284762"/>
            <a:ext cx="124092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4EE"/>
                </a:solidFill>
                <a:latin typeface="IBM Plex Sans" pitchFamily="34" charset="0"/>
                <a:ea typeface="IBM Plex Sans" pitchFamily="34" charset="-122"/>
                <a:cs typeface="IBM Plex Sans" pitchFamily="34" charset="-120"/>
              </a:rPr>
              <a:t>Dependency analysis</a:t>
            </a:r>
            <a:endParaRPr lang="en-US" sz="1300" dirty="0"/>
          </a:p>
        </p:txBody>
      </p:sp>
      <p:sp>
        <p:nvSpPr>
          <p:cNvPr id="29" name="Shape 27"/>
          <p:cNvSpPr/>
          <p:nvPr/>
        </p:nvSpPr>
        <p:spPr>
          <a:xfrm>
            <a:off x="8414643" y="3944441"/>
            <a:ext cx="1444228" cy="904081"/>
          </a:xfrm>
          <a:prstGeom prst="roundRect">
            <a:avLst>
              <a:gd name="adj" fmla="val 8428"/>
            </a:avLst>
          </a:prstGeom>
          <a:solidFill>
            <a:srgbClr val="12212B"/>
          </a:solidFill>
          <a:ln/>
        </p:spPr>
      </p:sp>
      <p:sp>
        <p:nvSpPr>
          <p:cNvPr id="30" name="Text 28"/>
          <p:cNvSpPr/>
          <p:nvPr/>
        </p:nvSpPr>
        <p:spPr>
          <a:xfrm>
            <a:off x="8541643" y="4046041"/>
            <a:ext cx="12410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3A0"/>
                </a:solidFill>
                <a:latin typeface="JetBrains Mono" pitchFamily="49" charset="0"/>
                <a:ea typeface="JetBrains Mono" pitchFamily="49" charset="-122"/>
                <a:cs typeface="JetBrains Mono" pitchFamily="49" charset="-120"/>
              </a:rPr>
              <a:t>6</a:t>
            </a:r>
            <a:endParaRPr lang="en-US" sz="1200" dirty="0"/>
          </a:p>
        </p:txBody>
      </p:sp>
      <p:sp>
        <p:nvSpPr>
          <p:cNvPr id="31" name="Text 29"/>
          <p:cNvSpPr/>
          <p:nvPr/>
        </p:nvSpPr>
        <p:spPr>
          <a:xfrm>
            <a:off x="8541643" y="4284762"/>
            <a:ext cx="124102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4EE"/>
                </a:solidFill>
                <a:latin typeface="IBM Plex Sans" pitchFamily="34" charset="0"/>
                <a:ea typeface="IBM Plex Sans" pitchFamily="34" charset="-122"/>
                <a:cs typeface="IBM Plex Sans" pitchFamily="34" charset="-120"/>
              </a:rPr>
              <a:t>SonarQube scan</a:t>
            </a:r>
            <a:endParaRPr lang="en-US" sz="1300" dirty="0"/>
          </a:p>
        </p:txBody>
      </p:sp>
      <p:sp>
        <p:nvSpPr>
          <p:cNvPr id="32" name="Shape 30"/>
          <p:cNvSpPr/>
          <p:nvPr/>
        </p:nvSpPr>
        <p:spPr>
          <a:xfrm>
            <a:off x="9935071" y="3944441"/>
            <a:ext cx="1444129" cy="904081"/>
          </a:xfrm>
          <a:prstGeom prst="roundRect">
            <a:avLst>
              <a:gd name="adj" fmla="val 8428"/>
            </a:avLst>
          </a:prstGeom>
          <a:solidFill>
            <a:srgbClr val="1E7F55"/>
          </a:solidFill>
          <a:ln/>
        </p:spPr>
      </p:sp>
      <p:sp>
        <p:nvSpPr>
          <p:cNvPr id="33" name="Text 31"/>
          <p:cNvSpPr/>
          <p:nvPr/>
        </p:nvSpPr>
        <p:spPr>
          <a:xfrm>
            <a:off x="10062071" y="4046041"/>
            <a:ext cx="12409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4EE"/>
                </a:solidFill>
                <a:latin typeface="JetBrains Mono" pitchFamily="49" charset="0"/>
                <a:ea typeface="JetBrains Mono" pitchFamily="49" charset="-122"/>
                <a:cs typeface="JetBrains Mono" pitchFamily="49" charset="-120"/>
              </a:rPr>
              <a:t>7</a:t>
            </a:r>
            <a:endParaRPr lang="en-US" sz="1200" dirty="0"/>
          </a:p>
        </p:txBody>
      </p:sp>
      <p:sp>
        <p:nvSpPr>
          <p:cNvPr id="34" name="Text 32"/>
          <p:cNvSpPr/>
          <p:nvPr/>
        </p:nvSpPr>
        <p:spPr>
          <a:xfrm>
            <a:off x="10062071" y="4284762"/>
            <a:ext cx="124092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4EE"/>
                </a:solidFill>
                <a:latin typeface="IBM Plex Sans" pitchFamily="34" charset="0"/>
                <a:ea typeface="IBM Plex Sans" pitchFamily="34" charset="-122"/>
                <a:cs typeface="IBM Plex Sans" pitchFamily="34" charset="-120"/>
              </a:rPr>
              <a:t>Quality gates</a:t>
            </a:r>
            <a:endParaRPr lang="en-US" sz="1300" dirty="0"/>
          </a:p>
        </p:txBody>
      </p:sp>
      <p:sp>
        <p:nvSpPr>
          <p:cNvPr id="35" name="Text 3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JetBrains Mono" pitchFamily="49" charset="0"/>
                <a:ea typeface="JetBrains Mono" pitchFamily="49" charset="-122"/>
                <a:cs typeface="JetBrains Mono" pitchFamily="49" charset="-120"/>
              </a:rPr>
              <a:t>The UnderFrogs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E7F55"/>
                </a:solidFill>
                <a:latin typeface="JetBrains Mono" pitchFamily="49" charset="0"/>
                <a:ea typeface="JetBrains Mono" pitchFamily="49" charset="-122"/>
                <a:cs typeface="JetBrains Mono" pitchFamily="49" charset="-120"/>
              </a:rPr>
              <a:t>05 · LESSONS LEARNED</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12B"/>
                </a:solidFill>
                <a:latin typeface="IBM Plex Sans" pitchFamily="34" charset="0"/>
                <a:ea typeface="IBM Plex Sans" pitchFamily="34" charset="-122"/>
                <a:cs typeface="IBM Plex Sans" pitchFamily="34" charset="-120"/>
              </a:rPr>
              <a:t>Decisions we'd make again</a:t>
            </a:r>
            <a:endParaRPr lang="en-US" sz="3200" dirty="0"/>
          </a:p>
        </p:txBody>
      </p:sp>
      <p:sp>
        <p:nvSpPr>
          <p:cNvPr id="4" name="Shape 2"/>
          <p:cNvSpPr/>
          <p:nvPr/>
        </p:nvSpPr>
        <p:spPr>
          <a:xfrm>
            <a:off x="815975" y="1882676"/>
            <a:ext cx="3414117" cy="3107134"/>
          </a:xfrm>
          <a:prstGeom prst="roundRect">
            <a:avLst>
              <a:gd name="adj" fmla="val 3168"/>
            </a:avLst>
          </a:prstGeom>
          <a:solidFill>
            <a:srgbClr val="FCFBF8"/>
          </a:solidFill>
          <a:ln w="6350">
            <a:solidFill>
              <a:srgbClr val="E2E0D8"/>
            </a:solidFill>
            <a:prstDash val="solid"/>
          </a:ln>
        </p:spPr>
      </p:sp>
      <p:sp>
        <p:nvSpPr>
          <p:cNvPr id="5" name="Text 3"/>
          <p:cNvSpPr/>
          <p:nvPr/>
        </p:nvSpPr>
        <p:spPr>
          <a:xfrm>
            <a:off x="1073150" y="2139851"/>
            <a:ext cx="298676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12B"/>
                </a:solidFill>
                <a:latin typeface="IBM Plex Sans" pitchFamily="34" charset="0"/>
                <a:ea typeface="IBM Plex Sans" pitchFamily="34" charset="-122"/>
                <a:cs typeface="IBM Plex Sans" pitchFamily="34" charset="-120"/>
              </a:rPr>
              <a:t>Tests before refactors</a:t>
            </a:r>
            <a:endParaRPr lang="en-US" sz="1600" dirty="0"/>
          </a:p>
        </p:txBody>
      </p:sp>
      <p:sp>
        <p:nvSpPr>
          <p:cNvPr id="6" name="Text 4"/>
          <p:cNvSpPr/>
          <p:nvPr/>
        </p:nvSpPr>
        <p:spPr>
          <a:xfrm>
            <a:off x="1073150" y="2459831"/>
            <a:ext cx="2986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F55"/>
                </a:solidFill>
                <a:latin typeface="JetBrains Mono" pitchFamily="49" charset="0"/>
                <a:ea typeface="JetBrains Mono" pitchFamily="49" charset="-122"/>
                <a:cs typeface="JetBrains Mono" pitchFamily="49" charset="-120"/>
              </a:rPr>
              <a:t>WHY</a:t>
            </a:r>
            <a:endParaRPr lang="en-US" sz="1200" dirty="0"/>
          </a:p>
        </p:txBody>
      </p:sp>
      <p:sp>
        <p:nvSpPr>
          <p:cNvPr id="7" name="Text 5"/>
          <p:cNvSpPr/>
          <p:nvPr/>
        </p:nvSpPr>
        <p:spPr>
          <a:xfrm>
            <a:off x="1073150" y="2749352"/>
            <a:ext cx="298676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We rebuilt order placement and auth while they were in use. Characterisation tests pinned the old behaviour first.</a:t>
            </a:r>
            <a:endParaRPr lang="en-US" sz="1300" dirty="0"/>
          </a:p>
        </p:txBody>
      </p:sp>
      <p:sp>
        <p:nvSpPr>
          <p:cNvPr id="8" name="Text 6"/>
          <p:cNvSpPr/>
          <p:nvPr/>
        </p:nvSpPr>
        <p:spPr>
          <a:xfrm>
            <a:off x="1073150" y="3749873"/>
            <a:ext cx="2986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15"/>
                </a:solidFill>
                <a:latin typeface="JetBrains Mono" pitchFamily="49" charset="0"/>
                <a:ea typeface="JetBrains Mono" pitchFamily="49" charset="-122"/>
                <a:cs typeface="JetBrains Mono" pitchFamily="49" charset="-120"/>
              </a:rPr>
              <a:t>LESSON</a:t>
            </a:r>
            <a:endParaRPr lang="en-US" sz="1200" dirty="0"/>
          </a:p>
        </p:txBody>
      </p:sp>
      <p:sp>
        <p:nvSpPr>
          <p:cNvPr id="9" name="Text 7"/>
          <p:cNvSpPr/>
          <p:nvPr/>
        </p:nvSpPr>
        <p:spPr>
          <a:xfrm>
            <a:off x="1073150" y="4039394"/>
            <a:ext cx="298676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A red test told us exactly what we'd changed, so big refactors stopped being risky.</a:t>
            </a:r>
            <a:endParaRPr lang="en-US" sz="1300" dirty="0"/>
          </a:p>
        </p:txBody>
      </p:sp>
      <p:sp>
        <p:nvSpPr>
          <p:cNvPr id="10" name="Shape 8"/>
          <p:cNvSpPr/>
          <p:nvPr/>
        </p:nvSpPr>
        <p:spPr>
          <a:xfrm>
            <a:off x="4388842" y="1882676"/>
            <a:ext cx="3414216" cy="3107134"/>
          </a:xfrm>
          <a:prstGeom prst="roundRect">
            <a:avLst>
              <a:gd name="adj" fmla="val 3168"/>
            </a:avLst>
          </a:prstGeom>
          <a:solidFill>
            <a:srgbClr val="FCFBF8"/>
          </a:solidFill>
          <a:ln w="6350">
            <a:solidFill>
              <a:srgbClr val="E2E0D8"/>
            </a:solidFill>
            <a:prstDash val="solid"/>
          </a:ln>
        </p:spPr>
      </p:sp>
      <p:sp>
        <p:nvSpPr>
          <p:cNvPr id="11" name="Text 9"/>
          <p:cNvSpPr/>
          <p:nvPr/>
        </p:nvSpPr>
        <p:spPr>
          <a:xfrm>
            <a:off x="4646017" y="2139851"/>
            <a:ext cx="2986862"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12B"/>
                </a:solidFill>
                <a:latin typeface="IBM Plex Sans" pitchFamily="34" charset="0"/>
                <a:ea typeface="IBM Plex Sans" pitchFamily="34" charset="-122"/>
                <a:cs typeface="IBM Plex Sans" pitchFamily="34" charset="-120"/>
              </a:rPr>
              <a:t>Execute orders asynchronously over Kafka</a:t>
            </a:r>
            <a:endParaRPr lang="en-US" sz="1600" dirty="0"/>
          </a:p>
        </p:txBody>
      </p:sp>
      <p:sp>
        <p:nvSpPr>
          <p:cNvPr id="12" name="Text 10"/>
          <p:cNvSpPr/>
          <p:nvPr/>
        </p:nvSpPr>
        <p:spPr>
          <a:xfrm>
            <a:off x="4646017" y="2703612"/>
            <a:ext cx="29868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F55"/>
                </a:solidFill>
                <a:latin typeface="JetBrains Mono" pitchFamily="49" charset="0"/>
                <a:ea typeface="JetBrains Mono" pitchFamily="49" charset="-122"/>
                <a:cs typeface="JetBrains Mono" pitchFamily="49" charset="-120"/>
              </a:rPr>
              <a:t>WHY</a:t>
            </a:r>
            <a:endParaRPr lang="en-US" sz="1200" dirty="0"/>
          </a:p>
        </p:txBody>
      </p:sp>
      <p:sp>
        <p:nvSpPr>
          <p:cNvPr id="13" name="Text 11"/>
          <p:cNvSpPr/>
          <p:nvPr/>
        </p:nvSpPr>
        <p:spPr>
          <a:xfrm>
            <a:off x="4646017" y="2993132"/>
            <a:ext cx="298686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A request shouldn't wait on a broker. Failures retry without losing the order.</a:t>
            </a:r>
            <a:endParaRPr lang="en-US" sz="1300" dirty="0"/>
          </a:p>
        </p:txBody>
      </p:sp>
      <p:sp>
        <p:nvSpPr>
          <p:cNvPr id="14" name="Text 12"/>
          <p:cNvSpPr/>
          <p:nvPr/>
        </p:nvSpPr>
        <p:spPr>
          <a:xfrm>
            <a:off x="4646017" y="3531493"/>
            <a:ext cx="29868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15"/>
                </a:solidFill>
                <a:latin typeface="JetBrains Mono" pitchFamily="49" charset="0"/>
                <a:ea typeface="JetBrains Mono" pitchFamily="49" charset="-122"/>
                <a:cs typeface="JetBrains Mono" pitchFamily="49" charset="-120"/>
              </a:rPr>
              <a:t>TRADE-OFF</a:t>
            </a:r>
            <a:endParaRPr lang="en-US" sz="1200" dirty="0"/>
          </a:p>
        </p:txBody>
      </p:sp>
      <p:sp>
        <p:nvSpPr>
          <p:cNvPr id="15" name="Text 13"/>
          <p:cNvSpPr/>
          <p:nvPr/>
        </p:nvSpPr>
        <p:spPr>
          <a:xfrm>
            <a:off x="4646017" y="3821013"/>
            <a:ext cx="298686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More moving parts, so we needed idempotent writes and dead-letter topics.</a:t>
            </a:r>
            <a:endParaRPr lang="en-US" sz="1300" dirty="0"/>
          </a:p>
        </p:txBody>
      </p:sp>
      <p:sp>
        <p:nvSpPr>
          <p:cNvPr id="16" name="Shape 14"/>
          <p:cNvSpPr/>
          <p:nvPr/>
        </p:nvSpPr>
        <p:spPr>
          <a:xfrm>
            <a:off x="7961809" y="1882676"/>
            <a:ext cx="3414216" cy="3107134"/>
          </a:xfrm>
          <a:prstGeom prst="roundRect">
            <a:avLst>
              <a:gd name="adj" fmla="val 3168"/>
            </a:avLst>
          </a:prstGeom>
          <a:solidFill>
            <a:srgbClr val="FCFBF8"/>
          </a:solidFill>
          <a:ln w="6350">
            <a:solidFill>
              <a:srgbClr val="E2E0D8"/>
            </a:solidFill>
            <a:prstDash val="solid"/>
          </a:ln>
        </p:spPr>
      </p:sp>
      <p:sp>
        <p:nvSpPr>
          <p:cNvPr id="17" name="Text 15"/>
          <p:cNvSpPr/>
          <p:nvPr/>
        </p:nvSpPr>
        <p:spPr>
          <a:xfrm>
            <a:off x="8218984" y="2139851"/>
            <a:ext cx="2986862"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12B"/>
                </a:solidFill>
                <a:latin typeface="IBM Plex Sans" pitchFamily="34" charset="0"/>
                <a:ea typeface="IBM Plex Sans" pitchFamily="34" charset="-122"/>
                <a:cs typeface="IBM Plex Sans" pitchFamily="34" charset="-120"/>
              </a:rPr>
              <a:t>Postgres star schema, not Snowflake</a:t>
            </a:r>
            <a:endParaRPr lang="en-US" sz="1600" dirty="0"/>
          </a:p>
        </p:txBody>
      </p:sp>
      <p:sp>
        <p:nvSpPr>
          <p:cNvPr id="18" name="Text 16"/>
          <p:cNvSpPr/>
          <p:nvPr/>
        </p:nvSpPr>
        <p:spPr>
          <a:xfrm>
            <a:off x="8218984" y="2703612"/>
            <a:ext cx="29868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F55"/>
                </a:solidFill>
                <a:latin typeface="JetBrains Mono" pitchFamily="49" charset="0"/>
                <a:ea typeface="JetBrains Mono" pitchFamily="49" charset="-122"/>
                <a:cs typeface="JetBrains Mono" pitchFamily="49" charset="-120"/>
              </a:rPr>
              <a:t>WHY</a:t>
            </a:r>
            <a:endParaRPr lang="en-US" sz="1200" dirty="0"/>
          </a:p>
        </p:txBody>
      </p:sp>
      <p:sp>
        <p:nvSpPr>
          <p:cNvPr id="19" name="Text 17"/>
          <p:cNvSpPr/>
          <p:nvPr/>
        </p:nvSpPr>
        <p:spPr>
          <a:xfrm>
            <a:off x="8218984" y="2993132"/>
            <a:ext cx="298686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The whole stack runs locally in Docker, with no cloud account or cost.</a:t>
            </a:r>
            <a:endParaRPr lang="en-US" sz="1300" dirty="0"/>
          </a:p>
        </p:txBody>
      </p:sp>
      <p:sp>
        <p:nvSpPr>
          <p:cNvPr id="20" name="Text 18"/>
          <p:cNvSpPr/>
          <p:nvPr/>
        </p:nvSpPr>
        <p:spPr>
          <a:xfrm>
            <a:off x="8218984" y="3531493"/>
            <a:ext cx="29868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15"/>
                </a:solidFill>
                <a:latin typeface="JetBrains Mono" pitchFamily="49" charset="0"/>
                <a:ea typeface="JetBrains Mono" pitchFamily="49" charset="-122"/>
                <a:cs typeface="JetBrains Mono" pitchFamily="49" charset="-120"/>
              </a:rPr>
              <a:t>TRADE-OFF</a:t>
            </a:r>
            <a:endParaRPr lang="en-US" sz="1200" dirty="0"/>
          </a:p>
        </p:txBody>
      </p:sp>
      <p:sp>
        <p:nvSpPr>
          <p:cNvPr id="21" name="Text 19"/>
          <p:cNvSpPr/>
          <p:nvPr/>
        </p:nvSpPr>
        <p:spPr>
          <a:xfrm>
            <a:off x="8218984" y="3821013"/>
            <a:ext cx="2986862"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0"/>
                </a:solidFill>
                <a:latin typeface="IBM Plex Sans" pitchFamily="34" charset="0"/>
                <a:ea typeface="IBM Plex Sans" pitchFamily="34" charset="-122"/>
                <a:cs typeface="IBM Plex Sans" pitchFamily="34" charset="-120"/>
              </a:rPr>
              <a:t>Same dimensional model, so moving to Snowflake later changes the load step, not the design.</a:t>
            </a:r>
            <a:endParaRPr lang="en-US" sz="13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JetBrains Mono" pitchFamily="49" charset="0"/>
                <a:ea typeface="JetBrains Mono" pitchFamily="49" charset="-122"/>
                <a:cs typeface="JetBrains Mono" pitchFamily="49" charset="-120"/>
              </a:rPr>
              <a:t>The UnderFrogs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E7F55"/>
                </a:solidFill>
                <a:latin typeface="JetBrains Mono" pitchFamily="49" charset="0"/>
                <a:ea typeface="JetBrains Mono" pitchFamily="49" charset="-122"/>
                <a:cs typeface="JetBrains Mono" pitchFamily="49" charset="-120"/>
              </a:rPr>
              <a:t>06 · WHAT'S NEXT</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12B"/>
                </a:solidFill>
                <a:latin typeface="IBM Plex Sans" pitchFamily="34" charset="0"/>
                <a:ea typeface="IBM Plex Sans" pitchFamily="34" charset="-122"/>
                <a:cs typeface="IBM Plex Sans" pitchFamily="34" charset="-120"/>
              </a:rPr>
              <a:t>Next: a UI, our extension, and the cloud</a:t>
            </a:r>
            <a:endParaRPr lang="en-US" sz="3200" dirty="0"/>
          </a:p>
        </p:txBody>
      </p:sp>
      <p:sp>
        <p:nvSpPr>
          <p:cNvPr id="4" name="Shape 2"/>
          <p:cNvSpPr/>
          <p:nvPr/>
        </p:nvSpPr>
        <p:spPr>
          <a:xfrm>
            <a:off x="815975" y="1882676"/>
            <a:ext cx="3418384" cy="2609453"/>
          </a:xfrm>
          <a:prstGeom prst="roundRect">
            <a:avLst>
              <a:gd name="adj" fmla="val 3772"/>
            </a:avLst>
          </a:prstGeom>
          <a:solidFill>
            <a:srgbClr val="FCFBF8"/>
          </a:solidFill>
          <a:ln w="6350">
            <a:solidFill>
              <a:srgbClr val="E2E0D8"/>
            </a:solidFill>
            <a:prstDash val="solid"/>
          </a:ln>
        </p:spPr>
      </p:sp>
      <p:sp>
        <p:nvSpPr>
          <p:cNvPr id="5" name="Text 3"/>
          <p:cNvSpPr/>
          <p:nvPr/>
        </p:nvSpPr>
        <p:spPr>
          <a:xfrm>
            <a:off x="1073150" y="2139851"/>
            <a:ext cx="29911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F55"/>
                </a:solidFill>
                <a:latin typeface="JetBrains Mono" pitchFamily="49" charset="0"/>
                <a:ea typeface="JetBrains Mono" pitchFamily="49" charset="-122"/>
                <a:cs typeface="JetBrains Mono" pitchFamily="49" charset="-120"/>
              </a:rPr>
              <a:t>SPRINT 9</a:t>
            </a:r>
            <a:endParaRPr lang="en-US" sz="1200" dirty="0"/>
          </a:p>
        </p:txBody>
      </p:sp>
      <p:sp>
        <p:nvSpPr>
          <p:cNvPr id="6" name="Text 4"/>
          <p:cNvSpPr/>
          <p:nvPr/>
        </p:nvSpPr>
        <p:spPr>
          <a:xfrm>
            <a:off x="1073150" y="2454771"/>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12B"/>
                </a:solidFill>
                <a:latin typeface="IBM Plex Sans" pitchFamily="34" charset="0"/>
                <a:ea typeface="IBM Plex Sans" pitchFamily="34" charset="-122"/>
                <a:cs typeface="IBM Plex Sans" pitchFamily="34" charset="-120"/>
              </a:rPr>
              <a:t>Angular UI</a:t>
            </a:r>
            <a:endParaRPr lang="en-US" sz="2000" dirty="0"/>
          </a:p>
        </p:txBody>
      </p:sp>
      <p:sp>
        <p:nvSpPr>
          <p:cNvPr id="7" name="Text 5"/>
          <p:cNvSpPr/>
          <p:nvPr/>
        </p:nvSpPr>
        <p:spPr>
          <a:xfrm>
            <a:off x="1158494" y="2861171"/>
            <a:ext cx="2898191" cy="949722"/>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4A5560"/>
                </a:solidFill>
                <a:latin typeface="IBM Plex Sans" pitchFamily="34" charset="0"/>
                <a:ea typeface="IBM Plex Sans" pitchFamily="34" charset="-122"/>
                <a:cs typeface="IBM Plex Sans" pitchFamily="34" charset="-120"/>
              </a:rPr>
              <a:t>Login, dashboard, order ticket, order history</a:t>
            </a:r>
            <a:endParaRPr lang="en-US" sz="1300" dirty="0"/>
          </a:p>
          <a:p>
            <a:pPr algn="l" marL="168656" indent="-168656">
              <a:lnSpc>
                <a:spcPts val="1820"/>
              </a:lnSpc>
              <a:buSzPct val="100000"/>
              <a:buChar char="•"/>
            </a:pPr>
            <a:r>
              <a:rPr lang="en-US" sz="1300" dirty="0">
                <a:solidFill>
                  <a:srgbClr val="4A5560"/>
                </a:solidFill>
                <a:latin typeface="IBM Plex Sans" pitchFamily="34" charset="0"/>
                <a:ea typeface="IBM Plex Sans" pitchFamily="34" charset="-122"/>
                <a:cs typeface="IBM Plex Sans" pitchFamily="34" charset="-120"/>
              </a:rPr>
              <a:t>JWT interceptor and route guards</a:t>
            </a:r>
            <a:endParaRPr lang="en-US" sz="1300" dirty="0"/>
          </a:p>
          <a:p>
            <a:pPr algn="l" marL="168656" indent="-168656">
              <a:lnSpc>
                <a:spcPts val="1820"/>
              </a:lnSpc>
              <a:buSzPct val="100000"/>
              <a:buChar char="•"/>
            </a:pPr>
            <a:r>
              <a:rPr lang="en-US" sz="1300" dirty="0">
                <a:solidFill>
                  <a:srgbClr val="4A5560"/>
                </a:solidFill>
                <a:latin typeface="IBM Plex Sans" pitchFamily="34" charset="0"/>
                <a:ea typeface="IBM Plex Sans" pitchFamily="34" charset="-122"/>
                <a:cs typeface="IBM Plex Sans" pitchFamily="34" charset="-120"/>
              </a:rPr>
              <a:t>Playwright end-to-end tests</a:t>
            </a:r>
            <a:endParaRPr lang="en-US" sz="1300" dirty="0"/>
          </a:p>
        </p:txBody>
      </p:sp>
      <p:sp>
        <p:nvSpPr>
          <p:cNvPr id="8" name="Shape 6"/>
          <p:cNvSpPr/>
          <p:nvPr/>
        </p:nvSpPr>
        <p:spPr>
          <a:xfrm>
            <a:off x="4389934" y="1879501"/>
            <a:ext cx="3412133" cy="2615803"/>
          </a:xfrm>
          <a:prstGeom prst="roundRect">
            <a:avLst>
              <a:gd name="adj" fmla="val 3884"/>
            </a:avLst>
          </a:prstGeom>
          <a:solidFill>
            <a:srgbClr val="12212B"/>
          </a:solidFill>
          <a:ln/>
        </p:spPr>
      </p:sp>
      <p:sp>
        <p:nvSpPr>
          <p:cNvPr id="9" name="Text 7"/>
          <p:cNvSpPr/>
          <p:nvPr/>
        </p:nvSpPr>
        <p:spPr>
          <a:xfrm>
            <a:off x="4643934" y="2133501"/>
            <a:ext cx="299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3A0"/>
                </a:solidFill>
                <a:latin typeface="JetBrains Mono" pitchFamily="49" charset="0"/>
                <a:ea typeface="JetBrains Mono" pitchFamily="49" charset="-122"/>
                <a:cs typeface="JetBrains Mono" pitchFamily="49" charset="-120"/>
              </a:rPr>
              <a:t>SPRINT 10 · EXTENSION</a:t>
            </a:r>
            <a:endParaRPr lang="en-US" sz="1200" dirty="0"/>
          </a:p>
        </p:txBody>
      </p:sp>
      <p:sp>
        <p:nvSpPr>
          <p:cNvPr id="10" name="Text 8"/>
          <p:cNvSpPr/>
          <p:nvPr/>
        </p:nvSpPr>
        <p:spPr>
          <a:xfrm>
            <a:off x="4643934" y="2448421"/>
            <a:ext cx="29912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4EE"/>
                </a:solidFill>
                <a:latin typeface="IBM Plex Sans" pitchFamily="34" charset="0"/>
                <a:ea typeface="IBM Plex Sans" pitchFamily="34" charset="-122"/>
                <a:cs typeface="IBM Plex Sans" pitchFamily="34" charset="-120"/>
              </a:rPr>
              <a:t>Pre-trade compliance</a:t>
            </a:r>
            <a:endParaRPr lang="en-US" sz="2000" dirty="0"/>
          </a:p>
        </p:txBody>
      </p:sp>
      <p:sp>
        <p:nvSpPr>
          <p:cNvPr id="11" name="Text 9"/>
          <p:cNvSpPr/>
          <p:nvPr/>
        </p:nvSpPr>
        <p:spPr>
          <a:xfrm>
            <a:off x="4729278" y="2854821"/>
            <a:ext cx="2898293" cy="1411883"/>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BFD0D6"/>
                </a:solidFill>
                <a:latin typeface="IBM Plex Sans" pitchFamily="34" charset="0"/>
                <a:ea typeface="IBM Plex Sans" pitchFamily="34" charset="-122"/>
                <a:cs typeface="IBM Plex Sans" pitchFamily="34" charset="-120"/>
              </a:rPr>
              <a:t>Restricted list and concentration limits</a:t>
            </a:r>
            <a:endParaRPr lang="en-US" sz="1300" dirty="0"/>
          </a:p>
          <a:p>
            <a:pPr algn="l" marL="168656" indent="-168656">
              <a:lnSpc>
                <a:spcPts val="1820"/>
              </a:lnSpc>
              <a:buSzPct val="100000"/>
              <a:buChar char="•"/>
            </a:pPr>
            <a:r>
              <a:rPr lang="en-US" sz="1300" dirty="0">
                <a:solidFill>
                  <a:srgbClr val="BFD0D6"/>
                </a:solidFill>
                <a:latin typeface="IBM Plex Sans" pitchFamily="34" charset="0"/>
                <a:ea typeface="IBM Plex Sans" pitchFamily="34" charset="-122"/>
                <a:cs typeface="IBM Plex Sans" pitchFamily="34" charset="-120"/>
              </a:rPr>
              <a:t>Block or warn, with the reason shown</a:t>
            </a:r>
            <a:endParaRPr lang="en-US" sz="1300" dirty="0"/>
          </a:p>
          <a:p>
            <a:pPr algn="l" marL="168656" indent="-168656">
              <a:lnSpc>
                <a:spcPts val="1820"/>
              </a:lnSpc>
              <a:buSzPct val="100000"/>
              <a:buChar char="•"/>
            </a:pPr>
            <a:r>
              <a:rPr lang="en-US" sz="1300" dirty="0">
                <a:solidFill>
                  <a:srgbClr val="BFD0D6"/>
                </a:solidFill>
                <a:latin typeface="IBM Plex Sans" pitchFamily="34" charset="0"/>
                <a:ea typeface="IBM Plex Sans" pitchFamily="34" charset="-122"/>
                <a:cs typeface="IBM Plex Sans" pitchFamily="34" charset="-120"/>
              </a:rPr>
              <a:t>Every check and override audited</a:t>
            </a:r>
            <a:endParaRPr lang="en-US" sz="1300" dirty="0"/>
          </a:p>
          <a:p>
            <a:pPr algn="l" marL="168656" indent="-168656">
              <a:lnSpc>
                <a:spcPts val="1820"/>
              </a:lnSpc>
              <a:buSzPct val="100000"/>
              <a:buChar char="•"/>
            </a:pPr>
            <a:r>
              <a:rPr lang="en-US" sz="1300" dirty="0">
                <a:solidFill>
                  <a:srgbClr val="BFD0D6"/>
                </a:solidFill>
                <a:latin typeface="IBM Plex Sans" pitchFamily="34" charset="0"/>
                <a:ea typeface="IBM Plex Sans" pitchFamily="34" charset="-122"/>
                <a:cs typeface="IBM Plex Sans" pitchFamily="34" charset="-120"/>
              </a:rPr>
              <a:t>Backup idea: trade surveillance</a:t>
            </a:r>
            <a:endParaRPr lang="en-US" sz="1300" dirty="0"/>
          </a:p>
        </p:txBody>
      </p:sp>
      <p:sp>
        <p:nvSpPr>
          <p:cNvPr id="12" name="Shape 10"/>
          <p:cNvSpPr/>
          <p:nvPr/>
        </p:nvSpPr>
        <p:spPr>
          <a:xfrm>
            <a:off x="7957641" y="1882676"/>
            <a:ext cx="3418384" cy="2609453"/>
          </a:xfrm>
          <a:prstGeom prst="roundRect">
            <a:avLst>
              <a:gd name="adj" fmla="val 3772"/>
            </a:avLst>
          </a:prstGeom>
          <a:solidFill>
            <a:srgbClr val="FCFBF8"/>
          </a:solidFill>
          <a:ln w="6350">
            <a:solidFill>
              <a:srgbClr val="E2E0D8"/>
            </a:solidFill>
            <a:prstDash val="solid"/>
          </a:ln>
        </p:spPr>
      </p:sp>
      <p:sp>
        <p:nvSpPr>
          <p:cNvPr id="13" name="Text 11"/>
          <p:cNvSpPr/>
          <p:nvPr/>
        </p:nvSpPr>
        <p:spPr>
          <a:xfrm>
            <a:off x="8214816" y="2139851"/>
            <a:ext cx="29911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F55"/>
                </a:solidFill>
                <a:latin typeface="JetBrains Mono" pitchFamily="49" charset="0"/>
                <a:ea typeface="JetBrains Mono" pitchFamily="49" charset="-122"/>
                <a:cs typeface="JetBrains Mono" pitchFamily="49" charset="-120"/>
              </a:rPr>
              <a:t>SPRINT 11</a:t>
            </a:r>
            <a:endParaRPr lang="en-US" sz="1200" dirty="0"/>
          </a:p>
        </p:txBody>
      </p:sp>
      <p:sp>
        <p:nvSpPr>
          <p:cNvPr id="14" name="Text 12"/>
          <p:cNvSpPr/>
          <p:nvPr/>
        </p:nvSpPr>
        <p:spPr>
          <a:xfrm>
            <a:off x="8214816" y="2454771"/>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12B"/>
                </a:solidFill>
                <a:latin typeface="IBM Plex Sans" pitchFamily="34" charset="0"/>
                <a:ea typeface="IBM Plex Sans" pitchFamily="34" charset="-122"/>
                <a:cs typeface="IBM Plex Sans" pitchFamily="34" charset="-120"/>
              </a:rPr>
              <a:t>AWS deployment</a:t>
            </a:r>
            <a:endParaRPr lang="en-US" sz="2000" dirty="0"/>
          </a:p>
        </p:txBody>
      </p:sp>
      <p:sp>
        <p:nvSpPr>
          <p:cNvPr id="15" name="Text 13"/>
          <p:cNvSpPr/>
          <p:nvPr/>
        </p:nvSpPr>
        <p:spPr>
          <a:xfrm>
            <a:off x="8300160" y="2861171"/>
            <a:ext cx="2898191" cy="949722"/>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4A5560"/>
                </a:solidFill>
                <a:latin typeface="IBM Plex Sans" pitchFamily="34" charset="0"/>
                <a:ea typeface="IBM Plex Sans" pitchFamily="34" charset="-122"/>
                <a:cs typeface="IBM Plex Sans" pitchFamily="34" charset="-120"/>
              </a:rPr>
              <a:t>Angular on S3 behind CloudFront</a:t>
            </a:r>
            <a:endParaRPr lang="en-US" sz="1300" dirty="0"/>
          </a:p>
          <a:p>
            <a:pPr algn="l" marL="168656" indent="-168656">
              <a:lnSpc>
                <a:spcPts val="1820"/>
              </a:lnSpc>
              <a:buSzPct val="100000"/>
              <a:buChar char="•"/>
            </a:pPr>
            <a:r>
              <a:rPr lang="en-US" sz="1300" dirty="0">
                <a:solidFill>
                  <a:srgbClr val="4A5560"/>
                </a:solidFill>
                <a:latin typeface="IBM Plex Sans" pitchFamily="34" charset="0"/>
                <a:ea typeface="IBM Plex Sans" pitchFamily="34" charset="-122"/>
                <a:cs typeface="IBM Plex Sans" pitchFamily="34" charset="-120"/>
              </a:rPr>
              <a:t>Private bucket, served only through the CDN</a:t>
            </a:r>
            <a:endParaRPr lang="en-US" sz="1300" dirty="0"/>
          </a:p>
          <a:p>
            <a:pPr algn="l" marL="168656" indent="-168656">
              <a:lnSpc>
                <a:spcPts val="1820"/>
              </a:lnSpc>
              <a:buSzPct val="100000"/>
              <a:buChar char="•"/>
            </a:pPr>
            <a:r>
              <a:rPr lang="en-US" sz="1300" dirty="0">
                <a:solidFill>
                  <a:srgbClr val="4A5560"/>
                </a:solidFill>
                <a:latin typeface="IBM Plex Sans" pitchFamily="34" charset="0"/>
                <a:ea typeface="IBM Plex Sans" pitchFamily="34" charset="-122"/>
                <a:cs typeface="IBM Plex Sans" pitchFamily="34" charset="-120"/>
              </a:rPr>
              <a:t>Automated build, upload, invalidate</a:t>
            </a:r>
            <a:endParaRPr lang="en-US" sz="1300" dirty="0"/>
          </a:p>
        </p:txBody>
      </p:sp>
      <p:sp>
        <p:nvSpPr>
          <p:cNvPr id="16" name="Text 14"/>
          <p:cNvSpPr/>
          <p:nvPr/>
        </p:nvSpPr>
        <p:spPr>
          <a:xfrm>
            <a:off x="812800" y="4800104"/>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First: finish Sprint 8 and merge it to develop.</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JetBrains Mono" pitchFamily="49" charset="0"/>
                <a:ea typeface="JetBrains Mono" pitchFamily="49" charset="-122"/>
                <a:cs typeface="JetBrains Mono" pitchFamily="49" charset="-120"/>
              </a:rPr>
              <a:t>The UnderFrogs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12B"/>
        </a:solidFill>
      </p:bgPr>
    </p:bg>
    <p:spTree>
      <p:nvGrpSpPr>
        <p:cNvPr id="1" name=""/>
        <p:cNvGrpSpPr/>
        <p:nvPr/>
      </p:nvGrpSpPr>
      <p:grpSpPr>
        <a:xfrm>
          <a:off x="0" y="0"/>
          <a:ext cx="0" cy="0"/>
          <a:chOff x="0" y="0"/>
          <a:chExt cx="0" cy="0"/>
        </a:xfrm>
      </p:grpSpPr>
      <p:sp>
        <p:nvSpPr>
          <p:cNvPr id="2" name="Shape 0"/>
          <p:cNvSpPr/>
          <p:nvPr/>
        </p:nvSpPr>
        <p:spPr>
          <a:xfrm>
            <a:off x="812800" y="812800"/>
            <a:ext cx="1016000" cy="76200"/>
          </a:xfrm>
          <a:prstGeom prst="roundRect">
            <a:avLst>
              <a:gd name="adj" fmla="val 50000"/>
            </a:avLst>
          </a:prstGeom>
          <a:solidFill>
            <a:srgbClr val="6FD3A0"/>
          </a:solidFill>
          <a:ln/>
        </p:spPr>
      </p:sp>
      <p:sp>
        <p:nvSpPr>
          <p:cNvPr id="3" name="Text 1"/>
          <p:cNvSpPr/>
          <p:nvPr>
            <p:ph type="title"/>
          </p:nvPr>
        </p:nvSpPr>
        <p:spPr>
          <a:xfrm>
            <a:off x="812800" y="228094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spc="-150" kern="0" dirty="0">
                <a:solidFill>
                  <a:srgbClr val="F5F4EE"/>
                </a:solidFill>
                <a:latin typeface="IBM Plex Sans" pitchFamily="34" charset="0"/>
                <a:ea typeface="IBM Plex Sans" pitchFamily="34" charset="-122"/>
                <a:cs typeface="IBM Plex Sans" pitchFamily="34" charset="-120"/>
              </a:rPr>
              <a:t>Questions?</a:t>
            </a:r>
            <a:endParaRPr lang="en-US" sz="8000" dirty="0"/>
          </a:p>
        </p:txBody>
      </p:sp>
      <p:sp>
        <p:nvSpPr>
          <p:cNvPr id="4" name="Text 2"/>
          <p:cNvSpPr/>
          <p:nvPr/>
        </p:nvSpPr>
        <p:spPr>
          <a:xfrm>
            <a:off x="812800" y="350014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BFD0D6"/>
                </a:solidFill>
                <a:latin typeface="IBM Plex Sans" pitchFamily="34" charset="0"/>
                <a:ea typeface="IBM Plex Sans" pitchFamily="34" charset="-122"/>
                <a:cs typeface="IBM Plex Sans" pitchFamily="34" charset="-120"/>
              </a:rPr>
              <a:t>Thank you from the UnderFrogs</a:t>
            </a:r>
            <a:endParaRPr lang="en-US" sz="2200" dirty="0"/>
          </a:p>
        </p:txBody>
      </p:sp>
      <p:sp>
        <p:nvSpPr>
          <p:cNvPr id="5" name="Shape 3"/>
          <p:cNvSpPr/>
          <p:nvPr/>
        </p:nvSpPr>
        <p:spPr>
          <a:xfrm>
            <a:off x="812800" y="4100810"/>
            <a:ext cx="10566400" cy="0"/>
          </a:xfrm>
          <a:prstGeom prst="line">
            <a:avLst/>
          </a:prstGeom>
          <a:noFill/>
          <a:ln w="12700">
            <a:solidFill>
              <a:srgbClr val="2E4452"/>
            </a:solidFill>
            <a:prstDash val="solid"/>
          </a:ln>
        </p:spPr>
      </p:sp>
      <p:sp>
        <p:nvSpPr>
          <p:cNvPr id="6" name="Text 4"/>
          <p:cNvSpPr/>
          <p:nvPr/>
        </p:nvSpPr>
        <p:spPr>
          <a:xfrm>
            <a:off x="812800" y="431036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4EE"/>
                </a:solidFill>
                <a:latin typeface="IBM Plex Sans" pitchFamily="34" charset="0"/>
                <a:ea typeface="IBM Plex Sans" pitchFamily="34" charset="-122"/>
                <a:cs typeface="IBM Plex Sans" pitchFamily="34" charset="-120"/>
              </a:rPr>
              <a:t>Marco Nocerino · David Jayakumar · Shane Ginty · Jamie Montgomery</a:t>
            </a:r>
            <a:endParaRPr lang="en-US" sz="1500" dirty="0"/>
          </a:p>
        </p:txBody>
      </p:sp>
    </p:spTree>
  </p:cSld>
  <p:clrMapOvr>
    <a:masterClrMapping/>
  </p:clrMapOvr>
</p:sld>
</file>

<file path=ppt/theme/theme1.xml><?xml version="1.0" encoding="utf-8"?>
<a:theme xmlns:a="http://schemas.openxmlformats.org/drawingml/2006/main" name="UnderFrogs Progress Showcase">
  <a:themeElements>
    <a:clrScheme name="UnderFrogs Progress Showcase">
      <a:dk1>
        <a:srgbClr val="12212B"/>
      </a:dk1>
      <a:lt1>
        <a:srgbClr val="F5F4EE"/>
      </a:lt1>
      <a:dk2>
        <a:srgbClr val="4B565C"/>
      </a:dk2>
      <a:lt2>
        <a:srgbClr val="DEDFDB"/>
      </a:lt2>
      <a:accent1>
        <a:srgbClr val="1E7F55"/>
      </a:accent1>
      <a:accent2>
        <a:srgbClr val="6FD3A0"/>
      </a:accent2>
      <a:accent3>
        <a:srgbClr val="A85215"/>
      </a:accent3>
      <a:accent4>
        <a:srgbClr val="9FE3BF"/>
      </a:accent4>
      <a:accent5>
        <a:srgbClr val="1B5E43"/>
      </a:accent5>
      <a:accent6>
        <a:srgbClr val="4A5560"/>
      </a:accent6>
      <a:hlink>
        <a:srgbClr val="0563C1"/>
      </a:hlink>
      <a:folHlink>
        <a:srgbClr val="954F72"/>
      </a:folHlink>
    </a:clrScheme>
    <a:fontScheme name="UnderFrogs Progress Showcas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UnderFrogs Progress Showcase</dc:title>
  <dc:subject/>
  <dc:creator/>
  <cp:lastModifiedBy/>
  <cp:revision>1</cp:revision>
  <dcterms:created xsi:type="dcterms:W3CDTF">2026-10-07T10:56:14Z</dcterms:created>
  <dcterms:modified xsi:type="dcterms:W3CDTF">2026-10-07T10:56:14Z</dcterms:modified>
</cp:coreProperties>
</file>